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29"/>
  </p:notesMasterIdLst>
  <p:sldIdLst>
    <p:sldId id="350" r:id="rId2"/>
    <p:sldId id="382" r:id="rId3"/>
    <p:sldId id="351" r:id="rId4"/>
    <p:sldId id="352" r:id="rId5"/>
    <p:sldId id="353" r:id="rId6"/>
    <p:sldId id="378" r:id="rId7"/>
    <p:sldId id="358" r:id="rId8"/>
    <p:sldId id="384" r:id="rId9"/>
    <p:sldId id="370" r:id="rId10"/>
    <p:sldId id="385" r:id="rId11"/>
    <p:sldId id="377" r:id="rId12"/>
    <p:sldId id="380" r:id="rId13"/>
    <p:sldId id="379" r:id="rId14"/>
    <p:sldId id="371" r:id="rId15"/>
    <p:sldId id="386" r:id="rId16"/>
    <p:sldId id="372" r:id="rId17"/>
    <p:sldId id="383" r:id="rId18"/>
    <p:sldId id="387" r:id="rId19"/>
    <p:sldId id="374" r:id="rId20"/>
    <p:sldId id="390" r:id="rId21"/>
    <p:sldId id="395" r:id="rId22"/>
    <p:sldId id="375" r:id="rId23"/>
    <p:sldId id="376" r:id="rId24"/>
    <p:sldId id="396" r:id="rId25"/>
    <p:sldId id="397" r:id="rId26"/>
    <p:sldId id="399" r:id="rId27"/>
    <p:sldId id="394" r:id="rId2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Vidaloka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9E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D3B303-EA21-42BF-8C8D-74E565505290}">
  <a:tblStyle styleId="{02D3B303-EA21-42BF-8C8D-74E5655052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91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AE8225-F71B-42D0-8854-FE705A4E58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D0C74E-4FD7-4B6E-9CF4-B637B75BEF73}">
      <dgm:prSet/>
      <dgm:spPr/>
      <dgm:t>
        <a:bodyPr/>
        <a:lstStyle/>
        <a:p>
          <a:r>
            <a:rPr lang="en-US" b="0" i="0" dirty="0"/>
            <a:t>Data driven initiative to eliminate traffic death and severe injuries</a:t>
          </a:r>
          <a:endParaRPr lang="en-US" dirty="0"/>
        </a:p>
      </dgm:t>
    </dgm:pt>
    <dgm:pt modelId="{4901654B-0CD3-44E6-AE55-CB58DB1BDE5E}" type="parTrans" cxnId="{0AEF6A02-8C5E-4E1B-A668-78FD31017246}">
      <dgm:prSet/>
      <dgm:spPr/>
      <dgm:t>
        <a:bodyPr/>
        <a:lstStyle/>
        <a:p>
          <a:endParaRPr lang="en-US"/>
        </a:p>
      </dgm:t>
    </dgm:pt>
    <dgm:pt modelId="{90324807-831D-4AD7-899B-28A8F92287B0}" type="sibTrans" cxnId="{0AEF6A02-8C5E-4E1B-A668-78FD31017246}">
      <dgm:prSet/>
      <dgm:spPr/>
      <dgm:t>
        <a:bodyPr/>
        <a:lstStyle/>
        <a:p>
          <a:endParaRPr lang="en-US"/>
        </a:p>
      </dgm:t>
    </dgm:pt>
    <dgm:pt modelId="{A11F69A9-F108-4323-AB73-C2BB43612CB9}" type="pres">
      <dgm:prSet presAssocID="{19AE8225-F71B-42D0-8854-FE705A4E582F}" presName="linear" presStyleCnt="0">
        <dgm:presLayoutVars>
          <dgm:animLvl val="lvl"/>
          <dgm:resizeHandles val="exact"/>
        </dgm:presLayoutVars>
      </dgm:prSet>
      <dgm:spPr/>
    </dgm:pt>
    <dgm:pt modelId="{70B69708-8604-42D3-BE9B-2AE4F5CCFA49}" type="pres">
      <dgm:prSet presAssocID="{D5D0C74E-4FD7-4B6E-9CF4-B637B75BEF7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AEF6A02-8C5E-4E1B-A668-78FD31017246}" srcId="{19AE8225-F71B-42D0-8854-FE705A4E582F}" destId="{D5D0C74E-4FD7-4B6E-9CF4-B637B75BEF73}" srcOrd="0" destOrd="0" parTransId="{4901654B-0CD3-44E6-AE55-CB58DB1BDE5E}" sibTransId="{90324807-831D-4AD7-899B-28A8F92287B0}"/>
    <dgm:cxn modelId="{80D96A93-6EF7-45CA-B1D5-DB3EFB1A161E}" type="presOf" srcId="{19AE8225-F71B-42D0-8854-FE705A4E582F}" destId="{A11F69A9-F108-4323-AB73-C2BB43612CB9}" srcOrd="0" destOrd="0" presId="urn:microsoft.com/office/officeart/2005/8/layout/vList2"/>
    <dgm:cxn modelId="{D581F4E9-851E-4B5F-9F13-A9F209A83B58}" type="presOf" srcId="{D5D0C74E-4FD7-4B6E-9CF4-B637B75BEF73}" destId="{70B69708-8604-42D3-BE9B-2AE4F5CCFA49}" srcOrd="0" destOrd="0" presId="urn:microsoft.com/office/officeart/2005/8/layout/vList2"/>
    <dgm:cxn modelId="{78C6408B-5855-4591-9028-BE43FD04EA48}" type="presParOf" srcId="{A11F69A9-F108-4323-AB73-C2BB43612CB9}" destId="{70B69708-8604-42D3-BE9B-2AE4F5CCFA4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F806D5-BFB8-494C-9B0D-15AACCE5B8B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FA94F5D-4BFE-4640-BB37-AC7F5619265D}">
      <dgm:prSet/>
      <dgm:spPr/>
      <dgm:t>
        <a:bodyPr/>
        <a:lstStyle/>
        <a:p>
          <a:r>
            <a:rPr lang="en-US" b="0" i="0" dirty="0">
              <a:latin typeface="Vidaloka" panose="020B0604020202020204" charset="0"/>
            </a:rPr>
            <a:t>Human</a:t>
          </a:r>
          <a:endParaRPr lang="en-US" dirty="0">
            <a:latin typeface="Vidaloka" panose="020B0604020202020204" charset="0"/>
          </a:endParaRPr>
        </a:p>
      </dgm:t>
    </dgm:pt>
    <dgm:pt modelId="{0BC1E3C3-699E-4806-A2BE-C95906470008}" type="parTrans" cxnId="{B4EA4F18-7D69-48DF-AB16-1F99527DC65B}">
      <dgm:prSet/>
      <dgm:spPr/>
      <dgm:t>
        <a:bodyPr/>
        <a:lstStyle/>
        <a:p>
          <a:endParaRPr lang="en-US"/>
        </a:p>
      </dgm:t>
    </dgm:pt>
    <dgm:pt modelId="{6BD5DA9B-40EB-498D-9BDF-6EFE013DC063}" type="sibTrans" cxnId="{B4EA4F18-7D69-48DF-AB16-1F99527DC65B}">
      <dgm:prSet/>
      <dgm:spPr/>
      <dgm:t>
        <a:bodyPr/>
        <a:lstStyle/>
        <a:p>
          <a:endParaRPr lang="en-US"/>
        </a:p>
      </dgm:t>
    </dgm:pt>
    <dgm:pt modelId="{D59C5882-3B69-4696-BE42-976CAD5F6433}">
      <dgm:prSet/>
      <dgm:spPr/>
      <dgm:t>
        <a:bodyPr/>
        <a:lstStyle/>
        <a:p>
          <a:r>
            <a:rPr lang="en-US" b="0" i="0" dirty="0">
              <a:latin typeface="Vidaloka" panose="020B0604020202020204" charset="0"/>
            </a:rPr>
            <a:t>Vehicle</a:t>
          </a:r>
          <a:endParaRPr lang="en-US" dirty="0">
            <a:latin typeface="Vidaloka" panose="020B0604020202020204" charset="0"/>
          </a:endParaRPr>
        </a:p>
      </dgm:t>
    </dgm:pt>
    <dgm:pt modelId="{BC9AEBC3-11F1-4474-AD65-BD214B56CAA7}" type="parTrans" cxnId="{7A4A6BFE-9C4E-4B25-AB25-68476F6CDF22}">
      <dgm:prSet/>
      <dgm:spPr/>
      <dgm:t>
        <a:bodyPr/>
        <a:lstStyle/>
        <a:p>
          <a:endParaRPr lang="en-US"/>
        </a:p>
      </dgm:t>
    </dgm:pt>
    <dgm:pt modelId="{1A539F5D-18F9-437D-A767-D97D08D70717}" type="sibTrans" cxnId="{7A4A6BFE-9C4E-4B25-AB25-68476F6CDF22}">
      <dgm:prSet/>
      <dgm:spPr/>
      <dgm:t>
        <a:bodyPr/>
        <a:lstStyle/>
        <a:p>
          <a:endParaRPr lang="en-US"/>
        </a:p>
      </dgm:t>
    </dgm:pt>
    <dgm:pt modelId="{0391EC79-A294-4AFF-A7CE-CDEC69A91A4F}">
      <dgm:prSet/>
      <dgm:spPr/>
      <dgm:t>
        <a:bodyPr/>
        <a:lstStyle/>
        <a:p>
          <a:r>
            <a:rPr lang="en-US" b="0" i="0" dirty="0">
              <a:latin typeface="Vidaloka" panose="020B0604020202020204" charset="0"/>
            </a:rPr>
            <a:t>Environmental</a:t>
          </a:r>
          <a:endParaRPr lang="en-US" dirty="0">
            <a:latin typeface="Vidaloka" panose="020B0604020202020204" charset="0"/>
          </a:endParaRPr>
        </a:p>
      </dgm:t>
    </dgm:pt>
    <dgm:pt modelId="{77D5FDF7-326F-43F6-8269-DF404E82511C}" type="parTrans" cxnId="{66182D2E-18F8-4BDE-B5EA-D91A2DE360BC}">
      <dgm:prSet/>
      <dgm:spPr/>
      <dgm:t>
        <a:bodyPr/>
        <a:lstStyle/>
        <a:p>
          <a:endParaRPr lang="en-US"/>
        </a:p>
      </dgm:t>
    </dgm:pt>
    <dgm:pt modelId="{CA71B50C-079D-492F-B0F3-553B78A6D6D0}" type="sibTrans" cxnId="{66182D2E-18F8-4BDE-B5EA-D91A2DE360BC}">
      <dgm:prSet/>
      <dgm:spPr/>
      <dgm:t>
        <a:bodyPr/>
        <a:lstStyle/>
        <a:p>
          <a:endParaRPr lang="en-US"/>
        </a:p>
      </dgm:t>
    </dgm:pt>
    <dgm:pt modelId="{7E069AE4-72A8-4EFD-85FC-F9D3AA35A440}">
      <dgm:prSet/>
      <dgm:spPr/>
      <dgm:t>
        <a:bodyPr/>
        <a:lstStyle/>
        <a:p>
          <a:r>
            <a:rPr lang="en-US" b="0" i="0" dirty="0">
              <a:latin typeface="Vidaloka" panose="020B0604020202020204" charset="0"/>
            </a:rPr>
            <a:t>Roadway</a:t>
          </a:r>
          <a:endParaRPr lang="en-US" dirty="0">
            <a:latin typeface="Vidaloka" panose="020B0604020202020204" charset="0"/>
          </a:endParaRPr>
        </a:p>
      </dgm:t>
    </dgm:pt>
    <dgm:pt modelId="{DBFA645A-3370-4E4A-B787-7CD475478B12}" type="parTrans" cxnId="{39EAFC43-7398-411C-B2DA-A8EDE45299CE}">
      <dgm:prSet/>
      <dgm:spPr/>
      <dgm:t>
        <a:bodyPr/>
        <a:lstStyle/>
        <a:p>
          <a:endParaRPr lang="en-US"/>
        </a:p>
      </dgm:t>
    </dgm:pt>
    <dgm:pt modelId="{DE7814F1-ADA6-44E3-A0EB-42473023F32A}" type="sibTrans" cxnId="{39EAFC43-7398-411C-B2DA-A8EDE45299CE}">
      <dgm:prSet/>
      <dgm:spPr/>
      <dgm:t>
        <a:bodyPr/>
        <a:lstStyle/>
        <a:p>
          <a:endParaRPr lang="en-US"/>
        </a:p>
      </dgm:t>
    </dgm:pt>
    <dgm:pt modelId="{21CCC391-A5C2-41F6-AA3A-5B44F159E9F3}" type="pres">
      <dgm:prSet presAssocID="{C0F806D5-BFB8-494C-9B0D-15AACCE5B8BD}" presName="linear" presStyleCnt="0">
        <dgm:presLayoutVars>
          <dgm:animLvl val="lvl"/>
          <dgm:resizeHandles val="exact"/>
        </dgm:presLayoutVars>
      </dgm:prSet>
      <dgm:spPr/>
    </dgm:pt>
    <dgm:pt modelId="{86D89145-3ED0-465E-B86B-DA90791A5DDF}" type="pres">
      <dgm:prSet presAssocID="{8FA94F5D-4BFE-4640-BB37-AC7F561926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67EA262-24B4-43F0-B727-A92768C5F072}" type="pres">
      <dgm:prSet presAssocID="{6BD5DA9B-40EB-498D-9BDF-6EFE013DC063}" presName="spacer" presStyleCnt="0"/>
      <dgm:spPr/>
    </dgm:pt>
    <dgm:pt modelId="{E14D3E58-5BEE-48EF-B560-61790EBB92B2}" type="pres">
      <dgm:prSet presAssocID="{D59C5882-3B69-4696-BE42-976CAD5F643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57F7F61-FAE7-45D8-891F-365D811F66C4}" type="pres">
      <dgm:prSet presAssocID="{1A539F5D-18F9-437D-A767-D97D08D70717}" presName="spacer" presStyleCnt="0"/>
      <dgm:spPr/>
    </dgm:pt>
    <dgm:pt modelId="{5B913D19-CE40-40F8-9DFC-4D255D499697}" type="pres">
      <dgm:prSet presAssocID="{0391EC79-A294-4AFF-A7CE-CDEC69A91A4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67750D-4D7D-4004-A7FF-06CE9C95CD81}" type="pres">
      <dgm:prSet presAssocID="{CA71B50C-079D-492F-B0F3-553B78A6D6D0}" presName="spacer" presStyleCnt="0"/>
      <dgm:spPr/>
    </dgm:pt>
    <dgm:pt modelId="{32586D02-B4E8-47FE-9A87-98FC5DEADF49}" type="pres">
      <dgm:prSet presAssocID="{7E069AE4-72A8-4EFD-85FC-F9D3AA35A44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3DDFB0A-D2A3-4DAA-B1D1-FE3EC1A49D97}" type="presOf" srcId="{0391EC79-A294-4AFF-A7CE-CDEC69A91A4F}" destId="{5B913D19-CE40-40F8-9DFC-4D255D499697}" srcOrd="0" destOrd="0" presId="urn:microsoft.com/office/officeart/2005/8/layout/vList2"/>
    <dgm:cxn modelId="{B4EA4F18-7D69-48DF-AB16-1F99527DC65B}" srcId="{C0F806D5-BFB8-494C-9B0D-15AACCE5B8BD}" destId="{8FA94F5D-4BFE-4640-BB37-AC7F5619265D}" srcOrd="0" destOrd="0" parTransId="{0BC1E3C3-699E-4806-A2BE-C95906470008}" sibTransId="{6BD5DA9B-40EB-498D-9BDF-6EFE013DC063}"/>
    <dgm:cxn modelId="{66182D2E-18F8-4BDE-B5EA-D91A2DE360BC}" srcId="{C0F806D5-BFB8-494C-9B0D-15AACCE5B8BD}" destId="{0391EC79-A294-4AFF-A7CE-CDEC69A91A4F}" srcOrd="2" destOrd="0" parTransId="{77D5FDF7-326F-43F6-8269-DF404E82511C}" sibTransId="{CA71B50C-079D-492F-B0F3-553B78A6D6D0}"/>
    <dgm:cxn modelId="{39EAFC43-7398-411C-B2DA-A8EDE45299CE}" srcId="{C0F806D5-BFB8-494C-9B0D-15AACCE5B8BD}" destId="{7E069AE4-72A8-4EFD-85FC-F9D3AA35A440}" srcOrd="3" destOrd="0" parTransId="{DBFA645A-3370-4E4A-B787-7CD475478B12}" sibTransId="{DE7814F1-ADA6-44E3-A0EB-42473023F32A}"/>
    <dgm:cxn modelId="{322BFEB0-5FA0-49EF-8E5D-E41B104CEABE}" type="presOf" srcId="{7E069AE4-72A8-4EFD-85FC-F9D3AA35A440}" destId="{32586D02-B4E8-47FE-9A87-98FC5DEADF49}" srcOrd="0" destOrd="0" presId="urn:microsoft.com/office/officeart/2005/8/layout/vList2"/>
    <dgm:cxn modelId="{323A1DD1-4744-453A-975F-403E40F32905}" type="presOf" srcId="{C0F806D5-BFB8-494C-9B0D-15AACCE5B8BD}" destId="{21CCC391-A5C2-41F6-AA3A-5B44F159E9F3}" srcOrd="0" destOrd="0" presId="urn:microsoft.com/office/officeart/2005/8/layout/vList2"/>
    <dgm:cxn modelId="{C65221DE-A280-461E-BA37-74230060B8D6}" type="presOf" srcId="{D59C5882-3B69-4696-BE42-976CAD5F6433}" destId="{E14D3E58-5BEE-48EF-B560-61790EBB92B2}" srcOrd="0" destOrd="0" presId="urn:microsoft.com/office/officeart/2005/8/layout/vList2"/>
    <dgm:cxn modelId="{C3FE4FEC-7B73-4AE5-9810-DC75564B7684}" type="presOf" srcId="{8FA94F5D-4BFE-4640-BB37-AC7F5619265D}" destId="{86D89145-3ED0-465E-B86B-DA90791A5DDF}" srcOrd="0" destOrd="0" presId="urn:microsoft.com/office/officeart/2005/8/layout/vList2"/>
    <dgm:cxn modelId="{7A4A6BFE-9C4E-4B25-AB25-68476F6CDF22}" srcId="{C0F806D5-BFB8-494C-9B0D-15AACCE5B8BD}" destId="{D59C5882-3B69-4696-BE42-976CAD5F6433}" srcOrd="1" destOrd="0" parTransId="{BC9AEBC3-11F1-4474-AD65-BD214B56CAA7}" sibTransId="{1A539F5D-18F9-437D-A767-D97D08D70717}"/>
    <dgm:cxn modelId="{30871249-6328-409B-AE07-31E19BC694CE}" type="presParOf" srcId="{21CCC391-A5C2-41F6-AA3A-5B44F159E9F3}" destId="{86D89145-3ED0-465E-B86B-DA90791A5DDF}" srcOrd="0" destOrd="0" presId="urn:microsoft.com/office/officeart/2005/8/layout/vList2"/>
    <dgm:cxn modelId="{CB3A58D4-4603-4AEE-A7D1-A79A17CCEBC4}" type="presParOf" srcId="{21CCC391-A5C2-41F6-AA3A-5B44F159E9F3}" destId="{F67EA262-24B4-43F0-B727-A92768C5F072}" srcOrd="1" destOrd="0" presId="urn:microsoft.com/office/officeart/2005/8/layout/vList2"/>
    <dgm:cxn modelId="{BDE00F78-F5B1-436B-8222-40B5993196A2}" type="presParOf" srcId="{21CCC391-A5C2-41F6-AA3A-5B44F159E9F3}" destId="{E14D3E58-5BEE-48EF-B560-61790EBB92B2}" srcOrd="2" destOrd="0" presId="urn:microsoft.com/office/officeart/2005/8/layout/vList2"/>
    <dgm:cxn modelId="{CC409253-3594-4562-BCB1-EEF6DAEA3F31}" type="presParOf" srcId="{21CCC391-A5C2-41F6-AA3A-5B44F159E9F3}" destId="{257F7F61-FAE7-45D8-891F-365D811F66C4}" srcOrd="3" destOrd="0" presId="urn:microsoft.com/office/officeart/2005/8/layout/vList2"/>
    <dgm:cxn modelId="{7FA3A915-74E1-407E-9068-9520B9DF0106}" type="presParOf" srcId="{21CCC391-A5C2-41F6-AA3A-5B44F159E9F3}" destId="{5B913D19-CE40-40F8-9DFC-4D255D499697}" srcOrd="4" destOrd="0" presId="urn:microsoft.com/office/officeart/2005/8/layout/vList2"/>
    <dgm:cxn modelId="{74CC4DDF-B6E5-436C-9C8A-E4AABC54846B}" type="presParOf" srcId="{21CCC391-A5C2-41F6-AA3A-5B44F159E9F3}" destId="{FA67750D-4D7D-4004-A7FF-06CE9C95CD81}" srcOrd="5" destOrd="0" presId="urn:microsoft.com/office/officeart/2005/8/layout/vList2"/>
    <dgm:cxn modelId="{6B4A3AAE-B909-4E80-B0BA-AB8D6B53CEDD}" type="presParOf" srcId="{21CCC391-A5C2-41F6-AA3A-5B44F159E9F3}" destId="{32586D02-B4E8-47FE-9A87-98FC5DEADF4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B2E2D8-26F3-4FDC-B5AF-B8C385151A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F4A4D2-913C-4D15-8428-35FA572BC732}">
      <dgm:prSet custT="1"/>
      <dgm:spPr/>
      <dgm:t>
        <a:bodyPr/>
        <a:lstStyle/>
        <a:p>
          <a:r>
            <a:rPr lang="en-US" sz="2200" b="0" i="0" dirty="0">
              <a:latin typeface="Vidaloka" panose="020B0604020202020204" charset="0"/>
            </a:rPr>
            <a:t>Measures Injury Severity</a:t>
          </a:r>
          <a:endParaRPr lang="en-US" sz="2200" dirty="0">
            <a:latin typeface="Vidaloka" panose="020B0604020202020204" charset="0"/>
          </a:endParaRPr>
        </a:p>
      </dgm:t>
    </dgm:pt>
    <dgm:pt modelId="{E720F148-F39E-4964-B03C-2ED804444BD2}" type="parTrans" cxnId="{F999B2B9-7793-47ED-B139-EF5CE435271A}">
      <dgm:prSet/>
      <dgm:spPr/>
      <dgm:t>
        <a:bodyPr/>
        <a:lstStyle/>
        <a:p>
          <a:endParaRPr lang="en-US"/>
        </a:p>
      </dgm:t>
    </dgm:pt>
    <dgm:pt modelId="{279334C2-CA2C-470E-ABF1-5134DCAF8423}" type="sibTrans" cxnId="{F999B2B9-7793-47ED-B139-EF5CE435271A}">
      <dgm:prSet/>
      <dgm:spPr/>
      <dgm:t>
        <a:bodyPr/>
        <a:lstStyle/>
        <a:p>
          <a:endParaRPr lang="en-US"/>
        </a:p>
      </dgm:t>
    </dgm:pt>
    <dgm:pt modelId="{54A55D17-FCF0-4D63-8588-221DF53CC94F}">
      <dgm:prSet custT="1"/>
      <dgm:spPr/>
      <dgm:t>
        <a:bodyPr/>
        <a:lstStyle/>
        <a:p>
          <a:r>
            <a:rPr lang="en-US" sz="2200" b="0" i="0" dirty="0">
              <a:latin typeface="Vidaloka" panose="020B0604020202020204" charset="0"/>
            </a:rPr>
            <a:t>Accounts for Societal Cost</a:t>
          </a:r>
          <a:endParaRPr lang="en-US" sz="2200" dirty="0">
            <a:latin typeface="Vidaloka" panose="020B0604020202020204" charset="0"/>
          </a:endParaRPr>
        </a:p>
      </dgm:t>
    </dgm:pt>
    <dgm:pt modelId="{E80B68B9-8CD9-47BB-952D-A59651B4B41A}" type="parTrans" cxnId="{BE0A2CE1-5881-4702-8542-817EA13F76BA}">
      <dgm:prSet/>
      <dgm:spPr/>
      <dgm:t>
        <a:bodyPr/>
        <a:lstStyle/>
        <a:p>
          <a:endParaRPr lang="en-US"/>
        </a:p>
      </dgm:t>
    </dgm:pt>
    <dgm:pt modelId="{B1FE944C-E0B5-43C1-B9DE-517054FD8498}" type="sibTrans" cxnId="{BE0A2CE1-5881-4702-8542-817EA13F76BA}">
      <dgm:prSet/>
      <dgm:spPr/>
      <dgm:t>
        <a:bodyPr/>
        <a:lstStyle/>
        <a:p>
          <a:endParaRPr lang="en-US"/>
        </a:p>
      </dgm:t>
    </dgm:pt>
    <dgm:pt modelId="{67BD4EA9-54AA-48B9-B574-F050369130BF}">
      <dgm:prSet custT="1"/>
      <dgm:spPr/>
      <dgm:t>
        <a:bodyPr/>
        <a:lstStyle/>
        <a:p>
          <a:r>
            <a:rPr lang="en-US" sz="2200" b="0" i="0" dirty="0">
              <a:latin typeface="Vidaloka" panose="020B0604020202020204" charset="0"/>
            </a:rPr>
            <a:t>Average per KSI crash ($12.5 million)</a:t>
          </a:r>
          <a:endParaRPr lang="en-US" sz="2200" dirty="0">
            <a:latin typeface="Vidaloka" panose="020B0604020202020204" charset="0"/>
          </a:endParaRPr>
        </a:p>
      </dgm:t>
    </dgm:pt>
    <dgm:pt modelId="{63612FB6-9CCF-4510-BE82-C9EA72BD7584}" type="parTrans" cxnId="{7143BB5F-FB01-4E12-8245-A9D7880F0EA0}">
      <dgm:prSet/>
      <dgm:spPr/>
      <dgm:t>
        <a:bodyPr/>
        <a:lstStyle/>
        <a:p>
          <a:endParaRPr lang="en-US"/>
        </a:p>
      </dgm:t>
    </dgm:pt>
    <dgm:pt modelId="{233B4F9E-9F93-45C0-B5F2-F12BEBF61E07}" type="sibTrans" cxnId="{7143BB5F-FB01-4E12-8245-A9D7880F0EA0}">
      <dgm:prSet/>
      <dgm:spPr/>
      <dgm:t>
        <a:bodyPr/>
        <a:lstStyle/>
        <a:p>
          <a:endParaRPr lang="en-US"/>
        </a:p>
      </dgm:t>
    </dgm:pt>
    <dgm:pt modelId="{F2F3487C-FE97-43AA-8E51-1D2564A0CA4A}" type="pres">
      <dgm:prSet presAssocID="{69B2E2D8-26F3-4FDC-B5AF-B8C385151AD9}" presName="linear" presStyleCnt="0">
        <dgm:presLayoutVars>
          <dgm:animLvl val="lvl"/>
          <dgm:resizeHandles val="exact"/>
        </dgm:presLayoutVars>
      </dgm:prSet>
      <dgm:spPr/>
    </dgm:pt>
    <dgm:pt modelId="{8B502597-783E-4919-ADD7-7D7E10135285}" type="pres">
      <dgm:prSet presAssocID="{5AF4A4D2-913C-4D15-8428-35FA572BC7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5938729-1089-41DA-BF85-3B31FF15D41D}" type="pres">
      <dgm:prSet presAssocID="{279334C2-CA2C-470E-ABF1-5134DCAF8423}" presName="spacer" presStyleCnt="0"/>
      <dgm:spPr/>
    </dgm:pt>
    <dgm:pt modelId="{7E69143E-DC75-47C0-94C8-22F309983054}" type="pres">
      <dgm:prSet presAssocID="{54A55D17-FCF0-4D63-8588-221DF53CC94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AAC777-3A51-41B3-AFC1-547E1CF726FC}" type="pres">
      <dgm:prSet presAssocID="{B1FE944C-E0B5-43C1-B9DE-517054FD8498}" presName="spacer" presStyleCnt="0"/>
      <dgm:spPr/>
    </dgm:pt>
    <dgm:pt modelId="{451D91BC-9E81-4057-A7C3-39866AAF085B}" type="pres">
      <dgm:prSet presAssocID="{67BD4EA9-54AA-48B9-B574-F050369130B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A6A842C-8F0A-40F7-8C4D-70B748B29FFC}" type="presOf" srcId="{5AF4A4D2-913C-4D15-8428-35FA572BC732}" destId="{8B502597-783E-4919-ADD7-7D7E10135285}" srcOrd="0" destOrd="0" presId="urn:microsoft.com/office/officeart/2005/8/layout/vList2"/>
    <dgm:cxn modelId="{B810C632-6B4E-4361-9232-EF2ECCCC6A54}" type="presOf" srcId="{67BD4EA9-54AA-48B9-B574-F050369130BF}" destId="{451D91BC-9E81-4057-A7C3-39866AAF085B}" srcOrd="0" destOrd="0" presId="urn:microsoft.com/office/officeart/2005/8/layout/vList2"/>
    <dgm:cxn modelId="{7143BB5F-FB01-4E12-8245-A9D7880F0EA0}" srcId="{69B2E2D8-26F3-4FDC-B5AF-B8C385151AD9}" destId="{67BD4EA9-54AA-48B9-B574-F050369130BF}" srcOrd="2" destOrd="0" parTransId="{63612FB6-9CCF-4510-BE82-C9EA72BD7584}" sibTransId="{233B4F9E-9F93-45C0-B5F2-F12BEBF61E07}"/>
    <dgm:cxn modelId="{D0FCD46B-9F26-4B42-B2E2-55C38E6D7F0E}" type="presOf" srcId="{69B2E2D8-26F3-4FDC-B5AF-B8C385151AD9}" destId="{F2F3487C-FE97-43AA-8E51-1D2564A0CA4A}" srcOrd="0" destOrd="0" presId="urn:microsoft.com/office/officeart/2005/8/layout/vList2"/>
    <dgm:cxn modelId="{CE400586-F23F-400F-B46C-C94978ABEAA8}" type="presOf" srcId="{54A55D17-FCF0-4D63-8588-221DF53CC94F}" destId="{7E69143E-DC75-47C0-94C8-22F309983054}" srcOrd="0" destOrd="0" presId="urn:microsoft.com/office/officeart/2005/8/layout/vList2"/>
    <dgm:cxn modelId="{F999B2B9-7793-47ED-B139-EF5CE435271A}" srcId="{69B2E2D8-26F3-4FDC-B5AF-B8C385151AD9}" destId="{5AF4A4D2-913C-4D15-8428-35FA572BC732}" srcOrd="0" destOrd="0" parTransId="{E720F148-F39E-4964-B03C-2ED804444BD2}" sibTransId="{279334C2-CA2C-470E-ABF1-5134DCAF8423}"/>
    <dgm:cxn modelId="{BE0A2CE1-5881-4702-8542-817EA13F76BA}" srcId="{69B2E2D8-26F3-4FDC-B5AF-B8C385151AD9}" destId="{54A55D17-FCF0-4D63-8588-221DF53CC94F}" srcOrd="1" destOrd="0" parTransId="{E80B68B9-8CD9-47BB-952D-A59651B4B41A}" sibTransId="{B1FE944C-E0B5-43C1-B9DE-517054FD8498}"/>
    <dgm:cxn modelId="{3928112A-1982-4D8F-BE2F-C0928C72A5C0}" type="presParOf" srcId="{F2F3487C-FE97-43AA-8E51-1D2564A0CA4A}" destId="{8B502597-783E-4919-ADD7-7D7E10135285}" srcOrd="0" destOrd="0" presId="urn:microsoft.com/office/officeart/2005/8/layout/vList2"/>
    <dgm:cxn modelId="{688787ED-A2E7-49F2-99CE-D4860D6D8B55}" type="presParOf" srcId="{F2F3487C-FE97-43AA-8E51-1D2564A0CA4A}" destId="{55938729-1089-41DA-BF85-3B31FF15D41D}" srcOrd="1" destOrd="0" presId="urn:microsoft.com/office/officeart/2005/8/layout/vList2"/>
    <dgm:cxn modelId="{0AA8409C-B24C-4140-8278-6DED4A8E94CD}" type="presParOf" srcId="{F2F3487C-FE97-43AA-8E51-1D2564A0CA4A}" destId="{7E69143E-DC75-47C0-94C8-22F309983054}" srcOrd="2" destOrd="0" presId="urn:microsoft.com/office/officeart/2005/8/layout/vList2"/>
    <dgm:cxn modelId="{85F8724D-A9B8-4274-AB5C-87E8662F2242}" type="presParOf" srcId="{F2F3487C-FE97-43AA-8E51-1D2564A0CA4A}" destId="{F5AAC777-3A51-41B3-AFC1-547E1CF726FC}" srcOrd="3" destOrd="0" presId="urn:microsoft.com/office/officeart/2005/8/layout/vList2"/>
    <dgm:cxn modelId="{38A55C36-2800-45F9-BBEF-08C643F27F7B}" type="presParOf" srcId="{F2F3487C-FE97-43AA-8E51-1D2564A0CA4A}" destId="{451D91BC-9E81-4057-A7C3-39866AAF085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29D3D9-8BFB-4C15-8755-14A106B102B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1AAB6C-54EE-4334-B999-D6456175B1AF}">
      <dgm:prSet custT="1"/>
      <dgm:spPr/>
      <dgm:t>
        <a:bodyPr/>
        <a:lstStyle/>
        <a:p>
          <a:pPr algn="ctr"/>
          <a:r>
            <a:rPr lang="en-US" sz="2000" b="1" i="0" dirty="0">
              <a:solidFill>
                <a:srgbClr val="FF0000"/>
              </a:solidFill>
            </a:rPr>
            <a:t>Estimated Total Societal cost </a:t>
          </a:r>
        </a:p>
        <a:p>
          <a:pPr algn="ctr"/>
          <a:r>
            <a:rPr lang="en-US" sz="2400" b="1" i="0" dirty="0">
              <a:solidFill>
                <a:srgbClr val="FF0000"/>
              </a:solidFill>
            </a:rPr>
            <a:t>($6.3 billion) </a:t>
          </a:r>
          <a:endParaRPr lang="en-US" sz="2400" b="1" dirty="0">
            <a:solidFill>
              <a:srgbClr val="FF0000"/>
            </a:solidFill>
          </a:endParaRPr>
        </a:p>
      </dgm:t>
    </dgm:pt>
    <dgm:pt modelId="{855C7CAF-4B12-4CC7-BB10-32FDDF75E4A9}" type="parTrans" cxnId="{E242284E-74D0-4689-AB2F-912CE4E12307}">
      <dgm:prSet/>
      <dgm:spPr/>
      <dgm:t>
        <a:bodyPr/>
        <a:lstStyle/>
        <a:p>
          <a:endParaRPr lang="en-US"/>
        </a:p>
      </dgm:t>
    </dgm:pt>
    <dgm:pt modelId="{E02B344D-3115-4FFA-AFAE-0541B2FAB387}" type="sibTrans" cxnId="{E242284E-74D0-4689-AB2F-912CE4E12307}">
      <dgm:prSet/>
      <dgm:spPr/>
      <dgm:t>
        <a:bodyPr/>
        <a:lstStyle/>
        <a:p>
          <a:endParaRPr lang="en-US"/>
        </a:p>
      </dgm:t>
    </dgm:pt>
    <dgm:pt modelId="{0616A9EC-0334-44DA-ADA7-BA6AFCBCF801}" type="pres">
      <dgm:prSet presAssocID="{2B29D3D9-8BFB-4C15-8755-14A106B102BB}" presName="linear" presStyleCnt="0">
        <dgm:presLayoutVars>
          <dgm:animLvl val="lvl"/>
          <dgm:resizeHandles val="exact"/>
        </dgm:presLayoutVars>
      </dgm:prSet>
      <dgm:spPr/>
    </dgm:pt>
    <dgm:pt modelId="{801AD50F-79B1-4CFB-8D82-B70FD5572B0B}" type="pres">
      <dgm:prSet presAssocID="{BE1AAB6C-54EE-4334-B999-D6456175B1AF}" presName="parentText" presStyleLbl="node1" presStyleIdx="0" presStyleCnt="1" custScaleY="295785" custLinFactNeighborY="-26519">
        <dgm:presLayoutVars>
          <dgm:chMax val="0"/>
          <dgm:bulletEnabled val="1"/>
        </dgm:presLayoutVars>
      </dgm:prSet>
      <dgm:spPr/>
    </dgm:pt>
  </dgm:ptLst>
  <dgm:cxnLst>
    <dgm:cxn modelId="{E242284E-74D0-4689-AB2F-912CE4E12307}" srcId="{2B29D3D9-8BFB-4C15-8755-14A106B102BB}" destId="{BE1AAB6C-54EE-4334-B999-D6456175B1AF}" srcOrd="0" destOrd="0" parTransId="{855C7CAF-4B12-4CC7-BB10-32FDDF75E4A9}" sibTransId="{E02B344D-3115-4FFA-AFAE-0541B2FAB387}"/>
    <dgm:cxn modelId="{5BD1F656-B42A-4408-A3DE-4B83122641FC}" type="presOf" srcId="{BE1AAB6C-54EE-4334-B999-D6456175B1AF}" destId="{801AD50F-79B1-4CFB-8D82-B70FD5572B0B}" srcOrd="0" destOrd="0" presId="urn:microsoft.com/office/officeart/2005/8/layout/vList2"/>
    <dgm:cxn modelId="{84E83CEE-1A8A-4909-83B0-04A56F140DC2}" type="presOf" srcId="{2B29D3D9-8BFB-4C15-8755-14A106B102BB}" destId="{0616A9EC-0334-44DA-ADA7-BA6AFCBCF801}" srcOrd="0" destOrd="0" presId="urn:microsoft.com/office/officeart/2005/8/layout/vList2"/>
    <dgm:cxn modelId="{AC55C3CF-E00C-4771-84A6-E278535503AF}" type="presParOf" srcId="{0616A9EC-0334-44DA-ADA7-BA6AFCBCF801}" destId="{801AD50F-79B1-4CFB-8D82-B70FD5572B0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F620882-A0A3-46D2-A952-E30F6F6AFA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89E2AD-B9D0-40BD-AF26-560886DA719D}">
      <dgm:prSet/>
      <dgm:spPr/>
      <dgm:t>
        <a:bodyPr/>
        <a:lstStyle/>
        <a:p>
          <a:r>
            <a:rPr lang="en-US" b="0" i="0" dirty="0"/>
            <a:t>Per 100M VMT</a:t>
          </a:r>
          <a:endParaRPr lang="en-US" dirty="0"/>
        </a:p>
      </dgm:t>
    </dgm:pt>
    <dgm:pt modelId="{0F8FC3BD-D9E8-4D3F-B796-BD4AF0373E72}" type="parTrans" cxnId="{702C7FCE-3072-42A3-9F2C-28D55735A084}">
      <dgm:prSet/>
      <dgm:spPr/>
      <dgm:t>
        <a:bodyPr/>
        <a:lstStyle/>
        <a:p>
          <a:endParaRPr lang="en-US"/>
        </a:p>
      </dgm:t>
    </dgm:pt>
    <dgm:pt modelId="{93110CF5-09AF-41B7-8760-52E96CE9831A}" type="sibTrans" cxnId="{702C7FCE-3072-42A3-9F2C-28D55735A084}">
      <dgm:prSet/>
      <dgm:spPr/>
      <dgm:t>
        <a:bodyPr/>
        <a:lstStyle/>
        <a:p>
          <a:endParaRPr lang="en-US"/>
        </a:p>
      </dgm:t>
    </dgm:pt>
    <dgm:pt modelId="{D4FDA31D-AD3A-4BF0-A02E-DEDA9154E4CD}" type="pres">
      <dgm:prSet presAssocID="{0F620882-A0A3-46D2-A952-E30F6F6AFA9C}" presName="linear" presStyleCnt="0">
        <dgm:presLayoutVars>
          <dgm:animLvl val="lvl"/>
          <dgm:resizeHandles val="exact"/>
        </dgm:presLayoutVars>
      </dgm:prSet>
      <dgm:spPr/>
    </dgm:pt>
    <dgm:pt modelId="{B96B01A8-8D62-4347-8E87-6E32C9DFBD7C}" type="pres">
      <dgm:prSet presAssocID="{0289E2AD-B9D0-40BD-AF26-560886DA719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95F5105-72FB-4C7F-BD1C-3FAF97455AA1}" type="presOf" srcId="{0F620882-A0A3-46D2-A952-E30F6F6AFA9C}" destId="{D4FDA31D-AD3A-4BF0-A02E-DEDA9154E4CD}" srcOrd="0" destOrd="0" presId="urn:microsoft.com/office/officeart/2005/8/layout/vList2"/>
    <dgm:cxn modelId="{1363D940-2384-43BF-B2AE-CE8223D787C3}" type="presOf" srcId="{0289E2AD-B9D0-40BD-AF26-560886DA719D}" destId="{B96B01A8-8D62-4347-8E87-6E32C9DFBD7C}" srcOrd="0" destOrd="0" presId="urn:microsoft.com/office/officeart/2005/8/layout/vList2"/>
    <dgm:cxn modelId="{702C7FCE-3072-42A3-9F2C-28D55735A084}" srcId="{0F620882-A0A3-46D2-A952-E30F6F6AFA9C}" destId="{0289E2AD-B9D0-40BD-AF26-560886DA719D}" srcOrd="0" destOrd="0" parTransId="{0F8FC3BD-D9E8-4D3F-B796-BD4AF0373E72}" sibTransId="{93110CF5-09AF-41B7-8760-52E96CE9831A}"/>
    <dgm:cxn modelId="{0D3CC9E9-D482-4095-9F04-92C3F7E43FA1}" type="presParOf" srcId="{D4FDA31D-AD3A-4BF0-A02E-DEDA9154E4CD}" destId="{B96B01A8-8D62-4347-8E87-6E32C9DFBD7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109709A-8F31-4593-B384-4C5B943F1F9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5CE3F1-404C-4A38-9FDE-21B572355F99}">
      <dgm:prSet phldrT="[Text]" custT="1"/>
      <dgm:spPr/>
      <dgm:t>
        <a:bodyPr/>
        <a:lstStyle/>
        <a:p>
          <a:r>
            <a:rPr lang="en-US" sz="3200" b="0" i="0" dirty="0">
              <a:latin typeface="Vidaloka" panose="020B0604020202020204" charset="0"/>
            </a:rPr>
            <a:t>Together they balance: </a:t>
          </a:r>
          <a:endParaRPr lang="en-US" sz="3200" dirty="0">
            <a:latin typeface="Vidaloka" panose="020B0604020202020204" charset="0"/>
          </a:endParaRPr>
        </a:p>
      </dgm:t>
    </dgm:pt>
    <dgm:pt modelId="{888D3BBB-2EFE-4F84-BB8D-0599D422C2E4}" type="parTrans" cxnId="{20A84DF2-D891-45E5-BBDC-7206C907842F}">
      <dgm:prSet/>
      <dgm:spPr/>
      <dgm:t>
        <a:bodyPr/>
        <a:lstStyle/>
        <a:p>
          <a:endParaRPr lang="en-US"/>
        </a:p>
      </dgm:t>
    </dgm:pt>
    <dgm:pt modelId="{8A71FFBF-3BBB-42BA-928E-F56ACE0964A8}" type="sibTrans" cxnId="{20A84DF2-D891-45E5-BBDC-7206C907842F}">
      <dgm:prSet/>
      <dgm:spPr/>
      <dgm:t>
        <a:bodyPr/>
        <a:lstStyle/>
        <a:p>
          <a:endParaRPr lang="en-US"/>
        </a:p>
      </dgm:t>
    </dgm:pt>
    <dgm:pt modelId="{858BA9A8-41CC-4D5C-B9BE-2FDF0533CFA1}">
      <dgm:prSet phldrT="[Text]" custT="1"/>
      <dgm:spPr/>
      <dgm:t>
        <a:bodyPr/>
        <a:lstStyle/>
        <a:p>
          <a:r>
            <a:rPr lang="en-US" sz="2500" b="0" i="0" dirty="0">
              <a:latin typeface="Vidaloka" panose="020B0604020202020204" charset="0"/>
            </a:rPr>
            <a:t>Where the most harm is</a:t>
          </a:r>
          <a:br>
            <a:rPr lang="en-US" sz="2500" b="0" i="0" dirty="0">
              <a:latin typeface="Vidaloka" panose="020B0604020202020204" charset="0"/>
            </a:rPr>
          </a:br>
          <a:r>
            <a:rPr lang="en-US" sz="2500" b="0" i="0" dirty="0">
              <a:latin typeface="Vidaloka" panose="020B0604020202020204" charset="0"/>
            </a:rPr>
            <a:t>(HIN)</a:t>
          </a:r>
          <a:endParaRPr lang="en-US" sz="2500" dirty="0">
            <a:latin typeface="Vidaloka" panose="020B0604020202020204" charset="0"/>
          </a:endParaRPr>
        </a:p>
      </dgm:t>
    </dgm:pt>
    <dgm:pt modelId="{7B038DF5-23D1-46B5-8E40-785F3A845383}" type="parTrans" cxnId="{A56AED91-75DE-4509-843C-178081529A88}">
      <dgm:prSet/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B5457C60-716F-4FF7-A7B2-E34E6EEDF969}" type="sibTrans" cxnId="{A56AED91-75DE-4509-843C-178081529A88}">
      <dgm:prSet/>
      <dgm:spPr/>
      <dgm:t>
        <a:bodyPr/>
        <a:lstStyle/>
        <a:p>
          <a:endParaRPr lang="en-US"/>
        </a:p>
      </dgm:t>
    </dgm:pt>
    <dgm:pt modelId="{2C6C0625-BF47-49D3-B2A8-5DFEAC830F6B}">
      <dgm:prSet phldrT="[Text]" custT="1"/>
      <dgm:spPr/>
      <dgm:t>
        <a:bodyPr/>
        <a:lstStyle/>
        <a:p>
          <a:r>
            <a:rPr lang="en-US" sz="2500" b="0" i="0" dirty="0">
              <a:latin typeface="Vidaloka" panose="020B0604020202020204" charset="0"/>
            </a:rPr>
            <a:t>Where the risk is abnormal</a:t>
          </a:r>
        </a:p>
        <a:p>
          <a:r>
            <a:rPr lang="en-US" sz="2500" b="0" i="0" dirty="0">
              <a:latin typeface="Vidaloka" panose="020B0604020202020204" charset="0"/>
            </a:rPr>
            <a:t>(Exposure)</a:t>
          </a:r>
          <a:endParaRPr lang="en-US" sz="2500" dirty="0">
            <a:latin typeface="Vidaloka" panose="020B0604020202020204" charset="0"/>
          </a:endParaRPr>
        </a:p>
      </dgm:t>
    </dgm:pt>
    <dgm:pt modelId="{1AE15FC3-5398-4522-88A5-0CFEAC1BCDCF}" type="parTrans" cxnId="{A59B4509-544B-4A0B-89E5-7AAE9A80ADAA}">
      <dgm:prSet/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E7A91100-9638-429B-B133-99D789C095C4}" type="sibTrans" cxnId="{A59B4509-544B-4A0B-89E5-7AAE9A80ADAA}">
      <dgm:prSet/>
      <dgm:spPr/>
      <dgm:t>
        <a:bodyPr/>
        <a:lstStyle/>
        <a:p>
          <a:endParaRPr lang="en-US"/>
        </a:p>
      </dgm:t>
    </dgm:pt>
    <dgm:pt modelId="{819C742C-A22B-4281-BD7F-A1A886AA769D}" type="pres">
      <dgm:prSet presAssocID="{0109709A-8F31-4593-B384-4C5B943F1F9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39AEE8A-2052-4E1C-B8B5-8503488927EC}" type="pres">
      <dgm:prSet presAssocID="{6D5CE3F1-404C-4A38-9FDE-21B572355F99}" presName="hierRoot1" presStyleCnt="0">
        <dgm:presLayoutVars>
          <dgm:hierBranch val="init"/>
        </dgm:presLayoutVars>
      </dgm:prSet>
      <dgm:spPr/>
    </dgm:pt>
    <dgm:pt modelId="{4C9D57BD-01F2-4798-BFDF-FF91E14F6F28}" type="pres">
      <dgm:prSet presAssocID="{6D5CE3F1-404C-4A38-9FDE-21B572355F99}" presName="rootComposite1" presStyleCnt="0"/>
      <dgm:spPr/>
    </dgm:pt>
    <dgm:pt modelId="{92347EBA-4269-4071-9B8C-34B505435A98}" type="pres">
      <dgm:prSet presAssocID="{6D5CE3F1-404C-4A38-9FDE-21B572355F99}" presName="rootText1" presStyleLbl="node0" presStyleIdx="0" presStyleCnt="1">
        <dgm:presLayoutVars>
          <dgm:chPref val="3"/>
        </dgm:presLayoutVars>
      </dgm:prSet>
      <dgm:spPr/>
    </dgm:pt>
    <dgm:pt modelId="{7967423A-773D-469A-90B4-801E660997DB}" type="pres">
      <dgm:prSet presAssocID="{6D5CE3F1-404C-4A38-9FDE-21B572355F99}" presName="rootConnector1" presStyleLbl="node1" presStyleIdx="0" presStyleCnt="0"/>
      <dgm:spPr/>
    </dgm:pt>
    <dgm:pt modelId="{AC0A42A8-4ED9-4E48-8D0A-AAEAAF23C00E}" type="pres">
      <dgm:prSet presAssocID="{6D5CE3F1-404C-4A38-9FDE-21B572355F99}" presName="hierChild2" presStyleCnt="0"/>
      <dgm:spPr/>
    </dgm:pt>
    <dgm:pt modelId="{BE952E39-6500-4B1C-BF1B-A535AE8CAA3A}" type="pres">
      <dgm:prSet presAssocID="{7B038DF5-23D1-46B5-8E40-785F3A845383}" presName="Name37" presStyleLbl="parChTrans1D2" presStyleIdx="0" presStyleCnt="2"/>
      <dgm:spPr/>
    </dgm:pt>
    <dgm:pt modelId="{2FD7A86F-C0BD-480E-85A1-ECD55137C5FC}" type="pres">
      <dgm:prSet presAssocID="{858BA9A8-41CC-4D5C-B9BE-2FDF0533CFA1}" presName="hierRoot2" presStyleCnt="0">
        <dgm:presLayoutVars>
          <dgm:hierBranch val="init"/>
        </dgm:presLayoutVars>
      </dgm:prSet>
      <dgm:spPr/>
    </dgm:pt>
    <dgm:pt modelId="{9BB27DD0-4B73-4860-8701-6457FF7C965B}" type="pres">
      <dgm:prSet presAssocID="{858BA9A8-41CC-4D5C-B9BE-2FDF0533CFA1}" presName="rootComposite" presStyleCnt="0"/>
      <dgm:spPr/>
    </dgm:pt>
    <dgm:pt modelId="{2FBC6BDE-44A2-4ACE-B18C-AFA768FB5904}" type="pres">
      <dgm:prSet presAssocID="{858BA9A8-41CC-4D5C-B9BE-2FDF0533CFA1}" presName="rootText" presStyleLbl="node2" presStyleIdx="0" presStyleCnt="2">
        <dgm:presLayoutVars>
          <dgm:chPref val="3"/>
        </dgm:presLayoutVars>
      </dgm:prSet>
      <dgm:spPr/>
    </dgm:pt>
    <dgm:pt modelId="{4A1DECDB-C4CE-4A16-8D73-CF72766F7650}" type="pres">
      <dgm:prSet presAssocID="{858BA9A8-41CC-4D5C-B9BE-2FDF0533CFA1}" presName="rootConnector" presStyleLbl="node2" presStyleIdx="0" presStyleCnt="2"/>
      <dgm:spPr/>
    </dgm:pt>
    <dgm:pt modelId="{FCCE0D78-9CCB-4C9B-98E8-7896FDA5322E}" type="pres">
      <dgm:prSet presAssocID="{858BA9A8-41CC-4D5C-B9BE-2FDF0533CFA1}" presName="hierChild4" presStyleCnt="0"/>
      <dgm:spPr/>
    </dgm:pt>
    <dgm:pt modelId="{FE4680B9-C390-4BB3-9B62-0AFB03DEB51F}" type="pres">
      <dgm:prSet presAssocID="{858BA9A8-41CC-4D5C-B9BE-2FDF0533CFA1}" presName="hierChild5" presStyleCnt="0"/>
      <dgm:spPr/>
    </dgm:pt>
    <dgm:pt modelId="{91633A38-FC5A-4553-9A7B-9181257C1AB2}" type="pres">
      <dgm:prSet presAssocID="{1AE15FC3-5398-4522-88A5-0CFEAC1BCDCF}" presName="Name37" presStyleLbl="parChTrans1D2" presStyleIdx="1" presStyleCnt="2"/>
      <dgm:spPr/>
    </dgm:pt>
    <dgm:pt modelId="{2DD731C4-0FD3-490D-9912-3868640857F6}" type="pres">
      <dgm:prSet presAssocID="{2C6C0625-BF47-49D3-B2A8-5DFEAC830F6B}" presName="hierRoot2" presStyleCnt="0">
        <dgm:presLayoutVars>
          <dgm:hierBranch val="init"/>
        </dgm:presLayoutVars>
      </dgm:prSet>
      <dgm:spPr/>
    </dgm:pt>
    <dgm:pt modelId="{D488E0A4-5F00-4299-807F-EC272B5CEF8D}" type="pres">
      <dgm:prSet presAssocID="{2C6C0625-BF47-49D3-B2A8-5DFEAC830F6B}" presName="rootComposite" presStyleCnt="0"/>
      <dgm:spPr/>
    </dgm:pt>
    <dgm:pt modelId="{951389FA-26C5-4D18-8C70-D6913876D5A1}" type="pres">
      <dgm:prSet presAssocID="{2C6C0625-BF47-49D3-B2A8-5DFEAC830F6B}" presName="rootText" presStyleLbl="node2" presStyleIdx="1" presStyleCnt="2">
        <dgm:presLayoutVars>
          <dgm:chPref val="3"/>
        </dgm:presLayoutVars>
      </dgm:prSet>
      <dgm:spPr/>
    </dgm:pt>
    <dgm:pt modelId="{612D89DC-AA01-4769-BD1C-389C293D957A}" type="pres">
      <dgm:prSet presAssocID="{2C6C0625-BF47-49D3-B2A8-5DFEAC830F6B}" presName="rootConnector" presStyleLbl="node2" presStyleIdx="1" presStyleCnt="2"/>
      <dgm:spPr/>
    </dgm:pt>
    <dgm:pt modelId="{0A701BE1-6913-419A-9450-7589738D9872}" type="pres">
      <dgm:prSet presAssocID="{2C6C0625-BF47-49D3-B2A8-5DFEAC830F6B}" presName="hierChild4" presStyleCnt="0"/>
      <dgm:spPr/>
    </dgm:pt>
    <dgm:pt modelId="{05286D6C-C882-4BD9-890F-067990AC2231}" type="pres">
      <dgm:prSet presAssocID="{2C6C0625-BF47-49D3-B2A8-5DFEAC830F6B}" presName="hierChild5" presStyleCnt="0"/>
      <dgm:spPr/>
    </dgm:pt>
    <dgm:pt modelId="{D2520E56-4C16-4589-8B09-B3EF92AE3484}" type="pres">
      <dgm:prSet presAssocID="{6D5CE3F1-404C-4A38-9FDE-21B572355F99}" presName="hierChild3" presStyleCnt="0"/>
      <dgm:spPr/>
    </dgm:pt>
  </dgm:ptLst>
  <dgm:cxnLst>
    <dgm:cxn modelId="{A59B4509-544B-4A0B-89E5-7AAE9A80ADAA}" srcId="{6D5CE3F1-404C-4A38-9FDE-21B572355F99}" destId="{2C6C0625-BF47-49D3-B2A8-5DFEAC830F6B}" srcOrd="1" destOrd="0" parTransId="{1AE15FC3-5398-4522-88A5-0CFEAC1BCDCF}" sibTransId="{E7A91100-9638-429B-B133-99D789C095C4}"/>
    <dgm:cxn modelId="{F6ED0F0E-8156-4EC8-92B9-83A6C14848FD}" type="presOf" srcId="{6D5CE3F1-404C-4A38-9FDE-21B572355F99}" destId="{92347EBA-4269-4071-9B8C-34B505435A98}" srcOrd="0" destOrd="0" presId="urn:microsoft.com/office/officeart/2005/8/layout/orgChart1"/>
    <dgm:cxn modelId="{FFB59F23-D43A-4E5B-8F5A-A00386DCC155}" type="presOf" srcId="{858BA9A8-41CC-4D5C-B9BE-2FDF0533CFA1}" destId="{2FBC6BDE-44A2-4ACE-B18C-AFA768FB5904}" srcOrd="0" destOrd="0" presId="urn:microsoft.com/office/officeart/2005/8/layout/orgChart1"/>
    <dgm:cxn modelId="{6D269963-303A-4A0C-94E6-356A1066C373}" type="presOf" srcId="{2C6C0625-BF47-49D3-B2A8-5DFEAC830F6B}" destId="{951389FA-26C5-4D18-8C70-D6913876D5A1}" srcOrd="0" destOrd="0" presId="urn:microsoft.com/office/officeart/2005/8/layout/orgChart1"/>
    <dgm:cxn modelId="{E24D8149-1BC6-4BFF-8BC1-B84C1949C0E0}" type="presOf" srcId="{6D5CE3F1-404C-4A38-9FDE-21B572355F99}" destId="{7967423A-773D-469A-90B4-801E660997DB}" srcOrd="1" destOrd="0" presId="urn:microsoft.com/office/officeart/2005/8/layout/orgChart1"/>
    <dgm:cxn modelId="{9DE93E4D-2791-4C93-8C11-A1D889DEAFEB}" type="presOf" srcId="{1AE15FC3-5398-4522-88A5-0CFEAC1BCDCF}" destId="{91633A38-FC5A-4553-9A7B-9181257C1AB2}" srcOrd="0" destOrd="0" presId="urn:microsoft.com/office/officeart/2005/8/layout/orgChart1"/>
    <dgm:cxn modelId="{AF902555-D87F-4F01-841F-BC6F9C4C035B}" type="presOf" srcId="{858BA9A8-41CC-4D5C-B9BE-2FDF0533CFA1}" destId="{4A1DECDB-C4CE-4A16-8D73-CF72766F7650}" srcOrd="1" destOrd="0" presId="urn:microsoft.com/office/officeart/2005/8/layout/orgChart1"/>
    <dgm:cxn modelId="{8396F380-FE49-4BD8-B8D2-7604C6D3066F}" type="presOf" srcId="{0109709A-8F31-4593-B384-4C5B943F1F95}" destId="{819C742C-A22B-4281-BD7F-A1A886AA769D}" srcOrd="0" destOrd="0" presId="urn:microsoft.com/office/officeart/2005/8/layout/orgChart1"/>
    <dgm:cxn modelId="{A56AED91-75DE-4509-843C-178081529A88}" srcId="{6D5CE3F1-404C-4A38-9FDE-21B572355F99}" destId="{858BA9A8-41CC-4D5C-B9BE-2FDF0533CFA1}" srcOrd="0" destOrd="0" parTransId="{7B038DF5-23D1-46B5-8E40-785F3A845383}" sibTransId="{B5457C60-716F-4FF7-A7B2-E34E6EEDF969}"/>
    <dgm:cxn modelId="{49DE52B3-BC66-471E-8902-0C31717DB15F}" type="presOf" srcId="{7B038DF5-23D1-46B5-8E40-785F3A845383}" destId="{BE952E39-6500-4B1C-BF1B-A535AE8CAA3A}" srcOrd="0" destOrd="0" presId="urn:microsoft.com/office/officeart/2005/8/layout/orgChart1"/>
    <dgm:cxn modelId="{20A84DF2-D891-45E5-BBDC-7206C907842F}" srcId="{0109709A-8F31-4593-B384-4C5B943F1F95}" destId="{6D5CE3F1-404C-4A38-9FDE-21B572355F99}" srcOrd="0" destOrd="0" parTransId="{888D3BBB-2EFE-4F84-BB8D-0599D422C2E4}" sibTransId="{8A71FFBF-3BBB-42BA-928E-F56ACE0964A8}"/>
    <dgm:cxn modelId="{347286F9-5AB4-456F-9B11-C43F41515D06}" type="presOf" srcId="{2C6C0625-BF47-49D3-B2A8-5DFEAC830F6B}" destId="{612D89DC-AA01-4769-BD1C-389C293D957A}" srcOrd="1" destOrd="0" presId="urn:microsoft.com/office/officeart/2005/8/layout/orgChart1"/>
    <dgm:cxn modelId="{8D7A84E4-29CF-402A-A498-F8676D5C4F64}" type="presParOf" srcId="{819C742C-A22B-4281-BD7F-A1A886AA769D}" destId="{039AEE8A-2052-4E1C-B8B5-8503488927EC}" srcOrd="0" destOrd="0" presId="urn:microsoft.com/office/officeart/2005/8/layout/orgChart1"/>
    <dgm:cxn modelId="{0C773F69-F38C-4152-B02D-18350B9B77A4}" type="presParOf" srcId="{039AEE8A-2052-4E1C-B8B5-8503488927EC}" destId="{4C9D57BD-01F2-4798-BFDF-FF91E14F6F28}" srcOrd="0" destOrd="0" presId="urn:microsoft.com/office/officeart/2005/8/layout/orgChart1"/>
    <dgm:cxn modelId="{C3483E2E-388F-41A2-9B3A-45C0D71B99AF}" type="presParOf" srcId="{4C9D57BD-01F2-4798-BFDF-FF91E14F6F28}" destId="{92347EBA-4269-4071-9B8C-34B505435A98}" srcOrd="0" destOrd="0" presId="urn:microsoft.com/office/officeart/2005/8/layout/orgChart1"/>
    <dgm:cxn modelId="{CAB3DB8D-1C05-41DD-9C62-2B4ABAA543AC}" type="presParOf" srcId="{4C9D57BD-01F2-4798-BFDF-FF91E14F6F28}" destId="{7967423A-773D-469A-90B4-801E660997DB}" srcOrd="1" destOrd="0" presId="urn:microsoft.com/office/officeart/2005/8/layout/orgChart1"/>
    <dgm:cxn modelId="{F61D21FB-1074-46A0-8FAF-BFCE54EB6669}" type="presParOf" srcId="{039AEE8A-2052-4E1C-B8B5-8503488927EC}" destId="{AC0A42A8-4ED9-4E48-8D0A-AAEAAF23C00E}" srcOrd="1" destOrd="0" presId="urn:microsoft.com/office/officeart/2005/8/layout/orgChart1"/>
    <dgm:cxn modelId="{ADB96512-6A06-4863-9206-E352AF968DE3}" type="presParOf" srcId="{AC0A42A8-4ED9-4E48-8D0A-AAEAAF23C00E}" destId="{BE952E39-6500-4B1C-BF1B-A535AE8CAA3A}" srcOrd="0" destOrd="0" presId="urn:microsoft.com/office/officeart/2005/8/layout/orgChart1"/>
    <dgm:cxn modelId="{2C43D783-3F9E-424C-9B86-0067FC0A6317}" type="presParOf" srcId="{AC0A42A8-4ED9-4E48-8D0A-AAEAAF23C00E}" destId="{2FD7A86F-C0BD-480E-85A1-ECD55137C5FC}" srcOrd="1" destOrd="0" presId="urn:microsoft.com/office/officeart/2005/8/layout/orgChart1"/>
    <dgm:cxn modelId="{B3BE45D4-D8D8-447A-AF7A-047AC5933D31}" type="presParOf" srcId="{2FD7A86F-C0BD-480E-85A1-ECD55137C5FC}" destId="{9BB27DD0-4B73-4860-8701-6457FF7C965B}" srcOrd="0" destOrd="0" presId="urn:microsoft.com/office/officeart/2005/8/layout/orgChart1"/>
    <dgm:cxn modelId="{449B1CF0-1F8D-4463-93B7-48EF31DCB854}" type="presParOf" srcId="{9BB27DD0-4B73-4860-8701-6457FF7C965B}" destId="{2FBC6BDE-44A2-4ACE-B18C-AFA768FB5904}" srcOrd="0" destOrd="0" presId="urn:microsoft.com/office/officeart/2005/8/layout/orgChart1"/>
    <dgm:cxn modelId="{27C8091B-8575-4DA7-9777-821029BAFE06}" type="presParOf" srcId="{9BB27DD0-4B73-4860-8701-6457FF7C965B}" destId="{4A1DECDB-C4CE-4A16-8D73-CF72766F7650}" srcOrd="1" destOrd="0" presId="urn:microsoft.com/office/officeart/2005/8/layout/orgChart1"/>
    <dgm:cxn modelId="{113D6727-1967-4EC9-AE38-DB9BA203E896}" type="presParOf" srcId="{2FD7A86F-C0BD-480E-85A1-ECD55137C5FC}" destId="{FCCE0D78-9CCB-4C9B-98E8-7896FDA5322E}" srcOrd="1" destOrd="0" presId="urn:microsoft.com/office/officeart/2005/8/layout/orgChart1"/>
    <dgm:cxn modelId="{70A0DF9D-1A5F-427D-85A9-697DBF17297C}" type="presParOf" srcId="{2FD7A86F-C0BD-480E-85A1-ECD55137C5FC}" destId="{FE4680B9-C390-4BB3-9B62-0AFB03DEB51F}" srcOrd="2" destOrd="0" presId="urn:microsoft.com/office/officeart/2005/8/layout/orgChart1"/>
    <dgm:cxn modelId="{F3B01A3B-B570-4346-B474-D02B54F02784}" type="presParOf" srcId="{AC0A42A8-4ED9-4E48-8D0A-AAEAAF23C00E}" destId="{91633A38-FC5A-4553-9A7B-9181257C1AB2}" srcOrd="2" destOrd="0" presId="urn:microsoft.com/office/officeart/2005/8/layout/orgChart1"/>
    <dgm:cxn modelId="{B555131C-E8B5-412B-B5B4-01303872EAE4}" type="presParOf" srcId="{AC0A42A8-4ED9-4E48-8D0A-AAEAAF23C00E}" destId="{2DD731C4-0FD3-490D-9912-3868640857F6}" srcOrd="3" destOrd="0" presId="urn:microsoft.com/office/officeart/2005/8/layout/orgChart1"/>
    <dgm:cxn modelId="{6563FF8B-BDBA-495C-A781-75463D614B4A}" type="presParOf" srcId="{2DD731C4-0FD3-490D-9912-3868640857F6}" destId="{D488E0A4-5F00-4299-807F-EC272B5CEF8D}" srcOrd="0" destOrd="0" presId="urn:microsoft.com/office/officeart/2005/8/layout/orgChart1"/>
    <dgm:cxn modelId="{0FCE74B0-BD93-4F97-8AFF-09E4D33D0913}" type="presParOf" srcId="{D488E0A4-5F00-4299-807F-EC272B5CEF8D}" destId="{951389FA-26C5-4D18-8C70-D6913876D5A1}" srcOrd="0" destOrd="0" presId="urn:microsoft.com/office/officeart/2005/8/layout/orgChart1"/>
    <dgm:cxn modelId="{32160934-6DD6-4D89-AC14-5D5EA9C9F387}" type="presParOf" srcId="{D488E0A4-5F00-4299-807F-EC272B5CEF8D}" destId="{612D89DC-AA01-4769-BD1C-389C293D957A}" srcOrd="1" destOrd="0" presId="urn:microsoft.com/office/officeart/2005/8/layout/orgChart1"/>
    <dgm:cxn modelId="{EF644FBE-44C0-4EE3-BDF7-078C6DBB2DF2}" type="presParOf" srcId="{2DD731C4-0FD3-490D-9912-3868640857F6}" destId="{0A701BE1-6913-419A-9450-7589738D9872}" srcOrd="1" destOrd="0" presId="urn:microsoft.com/office/officeart/2005/8/layout/orgChart1"/>
    <dgm:cxn modelId="{9F7A5E69-90AB-4EE9-ABB6-BE677FA15A90}" type="presParOf" srcId="{2DD731C4-0FD3-490D-9912-3868640857F6}" destId="{05286D6C-C882-4BD9-890F-067990AC2231}" srcOrd="2" destOrd="0" presId="urn:microsoft.com/office/officeart/2005/8/layout/orgChart1"/>
    <dgm:cxn modelId="{4A84F761-CECE-4BEC-BA82-B01D2D04A81D}" type="presParOf" srcId="{039AEE8A-2052-4E1C-B8B5-8503488927EC}" destId="{D2520E56-4C16-4589-8B09-B3EF92AE348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E802683-273F-43CC-A663-2BD32A2B7B1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6971A5-23D2-4146-A2CD-6D7D8F71B699}">
      <dgm:prSet/>
      <dgm:spPr/>
      <dgm:t>
        <a:bodyPr/>
        <a:lstStyle/>
        <a:p>
          <a:r>
            <a:rPr lang="en-US" b="0" i="0" dirty="0"/>
            <a:t>Recommendations</a:t>
          </a:r>
          <a:endParaRPr lang="en-US" dirty="0"/>
        </a:p>
      </dgm:t>
    </dgm:pt>
    <dgm:pt modelId="{631860C6-488B-4352-A32C-C1049055F3E0}" type="parTrans" cxnId="{C8B9C7E3-A6B1-4CDD-8D78-CD2D717B9FD0}">
      <dgm:prSet/>
      <dgm:spPr/>
      <dgm:t>
        <a:bodyPr/>
        <a:lstStyle/>
        <a:p>
          <a:endParaRPr lang="en-US"/>
        </a:p>
      </dgm:t>
    </dgm:pt>
    <dgm:pt modelId="{BA057CB5-8D1F-4DD0-89D3-5EB8196BC8A9}" type="sibTrans" cxnId="{C8B9C7E3-A6B1-4CDD-8D78-CD2D717B9FD0}">
      <dgm:prSet/>
      <dgm:spPr/>
      <dgm:t>
        <a:bodyPr/>
        <a:lstStyle/>
        <a:p>
          <a:endParaRPr lang="en-US"/>
        </a:p>
      </dgm:t>
    </dgm:pt>
    <dgm:pt modelId="{357A5456-7E77-46D3-9E58-7B0DE3A1516A}" type="pres">
      <dgm:prSet presAssocID="{7E802683-273F-43CC-A663-2BD32A2B7B1F}" presName="Name0" presStyleCnt="0">
        <dgm:presLayoutVars>
          <dgm:dir/>
          <dgm:animLvl val="lvl"/>
          <dgm:resizeHandles val="exact"/>
        </dgm:presLayoutVars>
      </dgm:prSet>
      <dgm:spPr/>
    </dgm:pt>
    <dgm:pt modelId="{A9D46E41-2CF2-488B-B804-37714E63A70C}" type="pres">
      <dgm:prSet presAssocID="{1B6971A5-23D2-4146-A2CD-6D7D8F71B699}" presName="linNode" presStyleCnt="0"/>
      <dgm:spPr/>
    </dgm:pt>
    <dgm:pt modelId="{31AF9343-4B09-4377-B29F-12938202BEA3}" type="pres">
      <dgm:prSet presAssocID="{1B6971A5-23D2-4146-A2CD-6D7D8F71B699}" presName="parentText" presStyleLbl="node1" presStyleIdx="0" presStyleCnt="1" custScaleX="148284">
        <dgm:presLayoutVars>
          <dgm:chMax val="1"/>
          <dgm:bulletEnabled val="1"/>
        </dgm:presLayoutVars>
      </dgm:prSet>
      <dgm:spPr/>
    </dgm:pt>
  </dgm:ptLst>
  <dgm:cxnLst>
    <dgm:cxn modelId="{B5136395-58C4-4CDD-B7CC-6F25993CEFD4}" type="presOf" srcId="{1B6971A5-23D2-4146-A2CD-6D7D8F71B699}" destId="{31AF9343-4B09-4377-B29F-12938202BEA3}" srcOrd="0" destOrd="0" presId="urn:microsoft.com/office/officeart/2005/8/layout/vList5"/>
    <dgm:cxn modelId="{E97880C9-67A4-4BD3-828F-72F1BF8417A6}" type="presOf" srcId="{7E802683-273F-43CC-A663-2BD32A2B7B1F}" destId="{357A5456-7E77-46D3-9E58-7B0DE3A1516A}" srcOrd="0" destOrd="0" presId="urn:microsoft.com/office/officeart/2005/8/layout/vList5"/>
    <dgm:cxn modelId="{C8B9C7E3-A6B1-4CDD-8D78-CD2D717B9FD0}" srcId="{7E802683-273F-43CC-A663-2BD32A2B7B1F}" destId="{1B6971A5-23D2-4146-A2CD-6D7D8F71B699}" srcOrd="0" destOrd="0" parTransId="{631860C6-488B-4352-A32C-C1049055F3E0}" sibTransId="{BA057CB5-8D1F-4DD0-89D3-5EB8196BC8A9}"/>
    <dgm:cxn modelId="{C03EE1F7-C7C7-4E9F-AA84-9628C71DF7BB}" type="presParOf" srcId="{357A5456-7E77-46D3-9E58-7B0DE3A1516A}" destId="{A9D46E41-2CF2-488B-B804-37714E63A70C}" srcOrd="0" destOrd="0" presId="urn:microsoft.com/office/officeart/2005/8/layout/vList5"/>
    <dgm:cxn modelId="{332BF7FB-2FC0-48FE-8C3E-1EC2CBCA3073}" type="presParOf" srcId="{A9D46E41-2CF2-488B-B804-37714E63A70C}" destId="{31AF9343-4B09-4377-B29F-12938202BEA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B69708-8604-42D3-BE9B-2AE4F5CCFA49}">
      <dsp:nvSpPr>
        <dsp:cNvPr id="0" name=""/>
        <dsp:cNvSpPr/>
      </dsp:nvSpPr>
      <dsp:spPr>
        <a:xfrm>
          <a:off x="0" y="198953"/>
          <a:ext cx="3668250" cy="2866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 dirty="0"/>
            <a:t>Data driven initiative to eliminate traffic death and severe injuries</a:t>
          </a:r>
          <a:endParaRPr lang="en-US" sz="3500" kern="1200" dirty="0"/>
        </a:p>
      </dsp:txBody>
      <dsp:txXfrm>
        <a:off x="139931" y="338884"/>
        <a:ext cx="3388388" cy="25866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89145-3ED0-465E-B86B-DA90791A5DDF}">
      <dsp:nvSpPr>
        <dsp:cNvPr id="0" name=""/>
        <dsp:cNvSpPr/>
      </dsp:nvSpPr>
      <dsp:spPr>
        <a:xfrm>
          <a:off x="0" y="26961"/>
          <a:ext cx="360553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>
              <a:latin typeface="Vidaloka" panose="020B0604020202020204" charset="0"/>
            </a:rPr>
            <a:t>Human</a:t>
          </a:r>
          <a:endParaRPr lang="en-US" sz="2100" kern="1200" dirty="0">
            <a:latin typeface="Vidaloka" panose="020B0604020202020204" charset="0"/>
          </a:endParaRPr>
        </a:p>
      </dsp:txBody>
      <dsp:txXfrm>
        <a:off x="24588" y="51549"/>
        <a:ext cx="3556356" cy="454509"/>
      </dsp:txXfrm>
    </dsp:sp>
    <dsp:sp modelId="{E14D3E58-5BEE-48EF-B560-61790EBB92B2}">
      <dsp:nvSpPr>
        <dsp:cNvPr id="0" name=""/>
        <dsp:cNvSpPr/>
      </dsp:nvSpPr>
      <dsp:spPr>
        <a:xfrm>
          <a:off x="0" y="591126"/>
          <a:ext cx="360553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>
              <a:latin typeface="Vidaloka" panose="020B0604020202020204" charset="0"/>
            </a:rPr>
            <a:t>Vehicle</a:t>
          </a:r>
          <a:endParaRPr lang="en-US" sz="2100" kern="1200" dirty="0">
            <a:latin typeface="Vidaloka" panose="020B0604020202020204" charset="0"/>
          </a:endParaRPr>
        </a:p>
      </dsp:txBody>
      <dsp:txXfrm>
        <a:off x="24588" y="615714"/>
        <a:ext cx="3556356" cy="454509"/>
      </dsp:txXfrm>
    </dsp:sp>
    <dsp:sp modelId="{5B913D19-CE40-40F8-9DFC-4D255D499697}">
      <dsp:nvSpPr>
        <dsp:cNvPr id="0" name=""/>
        <dsp:cNvSpPr/>
      </dsp:nvSpPr>
      <dsp:spPr>
        <a:xfrm>
          <a:off x="0" y="1155291"/>
          <a:ext cx="360553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>
              <a:latin typeface="Vidaloka" panose="020B0604020202020204" charset="0"/>
            </a:rPr>
            <a:t>Environmental</a:t>
          </a:r>
          <a:endParaRPr lang="en-US" sz="2100" kern="1200" dirty="0">
            <a:latin typeface="Vidaloka" panose="020B0604020202020204" charset="0"/>
          </a:endParaRPr>
        </a:p>
      </dsp:txBody>
      <dsp:txXfrm>
        <a:off x="24588" y="1179879"/>
        <a:ext cx="3556356" cy="454509"/>
      </dsp:txXfrm>
    </dsp:sp>
    <dsp:sp modelId="{32586D02-B4E8-47FE-9A87-98FC5DEADF49}">
      <dsp:nvSpPr>
        <dsp:cNvPr id="0" name=""/>
        <dsp:cNvSpPr/>
      </dsp:nvSpPr>
      <dsp:spPr>
        <a:xfrm>
          <a:off x="0" y="1719456"/>
          <a:ext cx="360553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>
              <a:latin typeface="Vidaloka" panose="020B0604020202020204" charset="0"/>
            </a:rPr>
            <a:t>Roadway</a:t>
          </a:r>
          <a:endParaRPr lang="en-US" sz="2100" kern="1200" dirty="0">
            <a:latin typeface="Vidaloka" panose="020B0604020202020204" charset="0"/>
          </a:endParaRPr>
        </a:p>
      </dsp:txBody>
      <dsp:txXfrm>
        <a:off x="24588" y="1744044"/>
        <a:ext cx="3556356" cy="4545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02597-783E-4919-ADD7-7D7E10135285}">
      <dsp:nvSpPr>
        <dsp:cNvPr id="0" name=""/>
        <dsp:cNvSpPr/>
      </dsp:nvSpPr>
      <dsp:spPr>
        <a:xfrm>
          <a:off x="0" y="216"/>
          <a:ext cx="4163003" cy="7417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Vidaloka" panose="020B0604020202020204" charset="0"/>
            </a:rPr>
            <a:t>Measures Injury Severity</a:t>
          </a:r>
          <a:endParaRPr lang="en-US" sz="2200" kern="1200" dirty="0">
            <a:latin typeface="Vidaloka" panose="020B0604020202020204" charset="0"/>
          </a:endParaRPr>
        </a:p>
      </dsp:txBody>
      <dsp:txXfrm>
        <a:off x="36208" y="36424"/>
        <a:ext cx="4090587" cy="669308"/>
      </dsp:txXfrm>
    </dsp:sp>
    <dsp:sp modelId="{7E69143E-DC75-47C0-94C8-22F309983054}">
      <dsp:nvSpPr>
        <dsp:cNvPr id="0" name=""/>
        <dsp:cNvSpPr/>
      </dsp:nvSpPr>
      <dsp:spPr>
        <a:xfrm>
          <a:off x="0" y="754189"/>
          <a:ext cx="4163003" cy="7417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Vidaloka" panose="020B0604020202020204" charset="0"/>
            </a:rPr>
            <a:t>Accounts for Societal Cost</a:t>
          </a:r>
          <a:endParaRPr lang="en-US" sz="2200" kern="1200" dirty="0">
            <a:latin typeface="Vidaloka" panose="020B0604020202020204" charset="0"/>
          </a:endParaRPr>
        </a:p>
      </dsp:txBody>
      <dsp:txXfrm>
        <a:off x="36208" y="790397"/>
        <a:ext cx="4090587" cy="669308"/>
      </dsp:txXfrm>
    </dsp:sp>
    <dsp:sp modelId="{451D91BC-9E81-4057-A7C3-39866AAF085B}">
      <dsp:nvSpPr>
        <dsp:cNvPr id="0" name=""/>
        <dsp:cNvSpPr/>
      </dsp:nvSpPr>
      <dsp:spPr>
        <a:xfrm>
          <a:off x="0" y="1508162"/>
          <a:ext cx="4163003" cy="7417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Vidaloka" panose="020B0604020202020204" charset="0"/>
            </a:rPr>
            <a:t>Average per KSI crash ($12.5 million)</a:t>
          </a:r>
          <a:endParaRPr lang="en-US" sz="2200" kern="1200" dirty="0">
            <a:latin typeface="Vidaloka" panose="020B0604020202020204" charset="0"/>
          </a:endParaRPr>
        </a:p>
      </dsp:txBody>
      <dsp:txXfrm>
        <a:off x="36208" y="1544370"/>
        <a:ext cx="4090587" cy="6693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AD50F-79B1-4CFB-8D82-B70FD5572B0B}">
      <dsp:nvSpPr>
        <dsp:cNvPr id="0" name=""/>
        <dsp:cNvSpPr/>
      </dsp:nvSpPr>
      <dsp:spPr>
        <a:xfrm>
          <a:off x="0" y="0"/>
          <a:ext cx="4480560" cy="10199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rgbClr val="FF0000"/>
              </a:solidFill>
            </a:rPr>
            <a:t>Estimated Total Societal cost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rgbClr val="FF0000"/>
              </a:solidFill>
            </a:rPr>
            <a:t>($6.3 billion) </a:t>
          </a:r>
          <a:endParaRPr lang="en-US" sz="2400" b="1" kern="1200" dirty="0">
            <a:solidFill>
              <a:srgbClr val="FF0000"/>
            </a:solidFill>
          </a:endParaRPr>
        </a:p>
      </dsp:txBody>
      <dsp:txXfrm>
        <a:off x="49788" y="49788"/>
        <a:ext cx="4380984" cy="9203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B01A8-8D62-4347-8E87-6E32C9DFBD7C}">
      <dsp:nvSpPr>
        <dsp:cNvPr id="0" name=""/>
        <dsp:cNvSpPr/>
      </dsp:nvSpPr>
      <dsp:spPr>
        <a:xfrm>
          <a:off x="0" y="216304"/>
          <a:ext cx="2534991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/>
            <a:t>Per 100M VMT</a:t>
          </a:r>
          <a:endParaRPr lang="en-US" sz="2600" kern="1200" dirty="0"/>
        </a:p>
      </dsp:txBody>
      <dsp:txXfrm>
        <a:off x="29700" y="246004"/>
        <a:ext cx="2475591" cy="549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633A38-FC5A-4553-9A7B-9181257C1AB2}">
      <dsp:nvSpPr>
        <dsp:cNvPr id="0" name=""/>
        <dsp:cNvSpPr/>
      </dsp:nvSpPr>
      <dsp:spPr>
        <a:xfrm>
          <a:off x="3048000" y="1742510"/>
          <a:ext cx="1668009" cy="5789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9489"/>
              </a:lnTo>
              <a:lnTo>
                <a:pt x="1668009" y="289489"/>
              </a:lnTo>
              <a:lnTo>
                <a:pt x="1668009" y="578978"/>
              </a:lnTo>
            </a:path>
          </a:pathLst>
        </a:custGeom>
        <a:noFill/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952E39-6500-4B1C-BF1B-A535AE8CAA3A}">
      <dsp:nvSpPr>
        <dsp:cNvPr id="0" name=""/>
        <dsp:cNvSpPr/>
      </dsp:nvSpPr>
      <dsp:spPr>
        <a:xfrm>
          <a:off x="1379990" y="1742510"/>
          <a:ext cx="1668009" cy="578978"/>
        </a:xfrm>
        <a:custGeom>
          <a:avLst/>
          <a:gdLst/>
          <a:ahLst/>
          <a:cxnLst/>
          <a:rect l="0" t="0" r="0" b="0"/>
          <a:pathLst>
            <a:path>
              <a:moveTo>
                <a:pt x="1668009" y="0"/>
              </a:moveTo>
              <a:lnTo>
                <a:pt x="1668009" y="289489"/>
              </a:lnTo>
              <a:lnTo>
                <a:pt x="0" y="289489"/>
              </a:lnTo>
              <a:lnTo>
                <a:pt x="0" y="578978"/>
              </a:lnTo>
            </a:path>
          </a:pathLst>
        </a:custGeom>
        <a:noFill/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347EBA-4269-4071-9B8C-34B505435A98}">
      <dsp:nvSpPr>
        <dsp:cNvPr id="0" name=""/>
        <dsp:cNvSpPr/>
      </dsp:nvSpPr>
      <dsp:spPr>
        <a:xfrm>
          <a:off x="1669479" y="363990"/>
          <a:ext cx="2757041" cy="13785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>
              <a:latin typeface="Vidaloka" panose="020B0604020202020204" charset="0"/>
            </a:rPr>
            <a:t>Together they balance: </a:t>
          </a:r>
          <a:endParaRPr lang="en-US" sz="3200" kern="1200" dirty="0">
            <a:latin typeface="Vidaloka" panose="020B0604020202020204" charset="0"/>
          </a:endParaRPr>
        </a:p>
      </dsp:txBody>
      <dsp:txXfrm>
        <a:off x="1669479" y="363990"/>
        <a:ext cx="2757041" cy="1378520"/>
      </dsp:txXfrm>
    </dsp:sp>
    <dsp:sp modelId="{2FBC6BDE-44A2-4ACE-B18C-AFA768FB5904}">
      <dsp:nvSpPr>
        <dsp:cNvPr id="0" name=""/>
        <dsp:cNvSpPr/>
      </dsp:nvSpPr>
      <dsp:spPr>
        <a:xfrm>
          <a:off x="1469" y="2321489"/>
          <a:ext cx="2757041" cy="13785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>
              <a:latin typeface="Vidaloka" panose="020B0604020202020204" charset="0"/>
            </a:rPr>
            <a:t>Where the most harm is</a:t>
          </a:r>
          <a:br>
            <a:rPr lang="en-US" sz="2500" b="0" i="0" kern="1200" dirty="0">
              <a:latin typeface="Vidaloka" panose="020B0604020202020204" charset="0"/>
            </a:rPr>
          </a:br>
          <a:r>
            <a:rPr lang="en-US" sz="2500" b="0" i="0" kern="1200" dirty="0">
              <a:latin typeface="Vidaloka" panose="020B0604020202020204" charset="0"/>
            </a:rPr>
            <a:t>(HIN)</a:t>
          </a:r>
          <a:endParaRPr lang="en-US" sz="2500" kern="1200" dirty="0">
            <a:latin typeface="Vidaloka" panose="020B0604020202020204" charset="0"/>
          </a:endParaRPr>
        </a:p>
      </dsp:txBody>
      <dsp:txXfrm>
        <a:off x="1469" y="2321489"/>
        <a:ext cx="2757041" cy="1378520"/>
      </dsp:txXfrm>
    </dsp:sp>
    <dsp:sp modelId="{951389FA-26C5-4D18-8C70-D6913876D5A1}">
      <dsp:nvSpPr>
        <dsp:cNvPr id="0" name=""/>
        <dsp:cNvSpPr/>
      </dsp:nvSpPr>
      <dsp:spPr>
        <a:xfrm>
          <a:off x="3337489" y="2321489"/>
          <a:ext cx="2757041" cy="13785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>
              <a:latin typeface="Vidaloka" panose="020B0604020202020204" charset="0"/>
            </a:rPr>
            <a:t>Where the risk is abnormal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>
              <a:latin typeface="Vidaloka" panose="020B0604020202020204" charset="0"/>
            </a:rPr>
            <a:t>(Exposure)</a:t>
          </a:r>
          <a:endParaRPr lang="en-US" sz="2500" kern="1200" dirty="0">
            <a:latin typeface="Vidaloka" panose="020B0604020202020204" charset="0"/>
          </a:endParaRPr>
        </a:p>
      </dsp:txBody>
      <dsp:txXfrm>
        <a:off x="3337489" y="2321489"/>
        <a:ext cx="2757041" cy="13785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AF9343-4B09-4377-B29F-12938202BEA3}">
      <dsp:nvSpPr>
        <dsp:cNvPr id="0" name=""/>
        <dsp:cNvSpPr/>
      </dsp:nvSpPr>
      <dsp:spPr>
        <a:xfrm>
          <a:off x="1808585" y="0"/>
          <a:ext cx="4142041" cy="9509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 dirty="0"/>
            <a:t>Recommendations</a:t>
          </a:r>
          <a:endParaRPr lang="en-US" sz="3500" kern="1200" dirty="0"/>
        </a:p>
      </dsp:txBody>
      <dsp:txXfrm>
        <a:off x="1855007" y="46422"/>
        <a:ext cx="4049197" cy="8581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597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70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8;p60">
            <a:extLst>
              <a:ext uri="{FF2B5EF4-FFF2-40B4-BE49-F238E27FC236}">
                <a16:creationId xmlns:a16="http://schemas.microsoft.com/office/drawing/2014/main" id="{0CB8650E-7D31-5F5B-902A-B4E1BCF89C28}"/>
              </a:ext>
            </a:extLst>
          </p:cNvPr>
          <p:cNvSpPr txBox="1">
            <a:spLocks/>
          </p:cNvSpPr>
          <p:nvPr/>
        </p:nvSpPr>
        <p:spPr>
          <a:xfrm>
            <a:off x="1040000" y="1366117"/>
            <a:ext cx="70641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Montgomery County Crash Severity &amp; High-Injury Network</a:t>
            </a:r>
            <a:endParaRPr lang="en-US" sz="6500" dirty="0"/>
          </a:p>
        </p:txBody>
      </p:sp>
      <p:sp>
        <p:nvSpPr>
          <p:cNvPr id="3" name="Google Shape;489;p60">
            <a:extLst>
              <a:ext uri="{FF2B5EF4-FFF2-40B4-BE49-F238E27FC236}">
                <a16:creationId xmlns:a16="http://schemas.microsoft.com/office/drawing/2014/main" id="{B083EBF4-AC05-34EA-5984-AA11BE3C885D}"/>
              </a:ext>
            </a:extLst>
          </p:cNvPr>
          <p:cNvSpPr txBox="1">
            <a:spLocks/>
          </p:cNvSpPr>
          <p:nvPr/>
        </p:nvSpPr>
        <p:spPr>
          <a:xfrm>
            <a:off x="1039950" y="3352507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1"/>
                </a:solidFill>
              </a:rPr>
              <a:t>Presented by: Abdulla Tarek</a:t>
            </a:r>
            <a:endParaRPr lang="en-US" dirty="0"/>
          </a:p>
        </p:txBody>
      </p:sp>
      <p:pic>
        <p:nvPicPr>
          <p:cNvPr id="7" name="Picture 6" descr="A red and black logo&#10;&#10;AI-generated content may be incorrect.">
            <a:extLst>
              <a:ext uri="{FF2B5EF4-FFF2-40B4-BE49-F238E27FC236}">
                <a16:creationId xmlns:a16="http://schemas.microsoft.com/office/drawing/2014/main" id="{0C601071-DBDD-0F84-96DA-10FDE8B28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317" y="491310"/>
            <a:ext cx="1751365" cy="174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16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9">
            <a:extLst>
              <a:ext uri="{FF2B5EF4-FFF2-40B4-BE49-F238E27FC236}">
                <a16:creationId xmlns:a16="http://schemas.microsoft.com/office/drawing/2014/main" id="{44DB59F2-F859-D243-BC64-03E24F16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80195"/>
            <a:ext cx="7717500" cy="57270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Agenda</a:t>
            </a:r>
            <a:endParaRPr lang="en-US" b="1" dirty="0">
              <a:solidFill>
                <a:schemeClr val="accent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E919AD-BE50-CB31-4951-C39C3122304E}"/>
              </a:ext>
            </a:extLst>
          </p:cNvPr>
          <p:cNvGrpSpPr/>
          <p:nvPr/>
        </p:nvGrpSpPr>
        <p:grpSpPr>
          <a:xfrm>
            <a:off x="713225" y="1607820"/>
            <a:ext cx="3407378" cy="480100"/>
            <a:chOff x="713225" y="1607820"/>
            <a:chExt cx="3407378" cy="4801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89CE12F-70AF-664C-9963-1E5EFAEE32E1}"/>
                </a:ext>
              </a:extLst>
            </p:cNvPr>
            <p:cNvSpPr/>
            <p:nvPr/>
          </p:nvSpPr>
          <p:spPr>
            <a:xfrm>
              <a:off x="713225" y="1607820"/>
              <a:ext cx="391675" cy="4801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7DE9708-0661-6654-1183-DB2E69138B99}"/>
                </a:ext>
              </a:extLst>
            </p:cNvPr>
            <p:cNvGrpSpPr/>
            <p:nvPr/>
          </p:nvGrpSpPr>
          <p:grpSpPr>
            <a:xfrm>
              <a:off x="1281391" y="1607820"/>
              <a:ext cx="2839212" cy="480100"/>
              <a:chOff x="560826" y="236179"/>
              <a:chExt cx="2839212" cy="480100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0D416FA-494B-51FB-DB14-DAF2213124D1}"/>
                  </a:ext>
                </a:extLst>
              </p:cNvPr>
              <p:cNvSpPr/>
              <p:nvPr/>
            </p:nvSpPr>
            <p:spPr>
              <a:xfrm>
                <a:off x="560826" y="236179"/>
                <a:ext cx="2839212" cy="48010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Rectangle: Rounded Corners 4">
                <a:extLst>
                  <a:ext uri="{FF2B5EF4-FFF2-40B4-BE49-F238E27FC236}">
                    <a16:creationId xmlns:a16="http://schemas.microsoft.com/office/drawing/2014/main" id="{50A5161F-CC19-F642-8E53-D759676B8E39}"/>
                  </a:ext>
                </a:extLst>
              </p:cNvPr>
              <p:cNvSpPr txBox="1"/>
              <p:nvPr/>
            </p:nvSpPr>
            <p:spPr>
              <a:xfrm>
                <a:off x="584263" y="259616"/>
                <a:ext cx="2792338" cy="43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400" dirty="0">
                    <a:latin typeface="Vidaloka" panose="020B0604020202020204" charset="0"/>
                  </a:rPr>
                  <a:t>Vision Zero</a:t>
                </a:r>
                <a:endParaRPr lang="en-US" sz="4000" kern="1200" dirty="0">
                  <a:latin typeface="Vidaloka" panose="020B060402020202020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480FA28-6B40-476E-BA63-88BFBC01D742}"/>
              </a:ext>
            </a:extLst>
          </p:cNvPr>
          <p:cNvGrpSpPr/>
          <p:nvPr/>
        </p:nvGrpSpPr>
        <p:grpSpPr>
          <a:xfrm>
            <a:off x="713225" y="2402795"/>
            <a:ext cx="3407378" cy="480100"/>
            <a:chOff x="713225" y="1607820"/>
            <a:chExt cx="3407378" cy="4801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E860975-1D99-8110-3558-880141638A74}"/>
                </a:ext>
              </a:extLst>
            </p:cNvPr>
            <p:cNvSpPr/>
            <p:nvPr/>
          </p:nvSpPr>
          <p:spPr>
            <a:xfrm>
              <a:off x="713225" y="1607820"/>
              <a:ext cx="391675" cy="4801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B14168E-241B-0727-66FE-F3989D90807C}"/>
                </a:ext>
              </a:extLst>
            </p:cNvPr>
            <p:cNvGrpSpPr/>
            <p:nvPr/>
          </p:nvGrpSpPr>
          <p:grpSpPr>
            <a:xfrm>
              <a:off x="1281391" y="1607820"/>
              <a:ext cx="2839212" cy="480100"/>
              <a:chOff x="560826" y="236179"/>
              <a:chExt cx="2839212" cy="48010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818709BD-8A41-66BE-19DD-BEA248536E40}"/>
                  </a:ext>
                </a:extLst>
              </p:cNvPr>
              <p:cNvSpPr/>
              <p:nvPr/>
            </p:nvSpPr>
            <p:spPr>
              <a:xfrm>
                <a:off x="560826" y="236179"/>
                <a:ext cx="2839212" cy="48010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Rectangle: Rounded Corners 4">
                <a:extLst>
                  <a:ext uri="{FF2B5EF4-FFF2-40B4-BE49-F238E27FC236}">
                    <a16:creationId xmlns:a16="http://schemas.microsoft.com/office/drawing/2014/main" id="{3D8C5696-E676-4158-94D9-0D601CB566AD}"/>
                  </a:ext>
                </a:extLst>
              </p:cNvPr>
              <p:cNvSpPr txBox="1"/>
              <p:nvPr/>
            </p:nvSpPr>
            <p:spPr>
              <a:xfrm>
                <a:off x="584263" y="259616"/>
                <a:ext cx="2792338" cy="43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400" kern="1200" dirty="0">
                    <a:latin typeface="Vidaloka" panose="020B0604020202020204" charset="0"/>
                  </a:rPr>
                  <a:t>Problem</a:t>
                </a:r>
                <a:endParaRPr lang="en-US" sz="2400" dirty="0">
                  <a:latin typeface="Vidaloka" panose="020B0604020202020204" charset="0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E50AC95-CF3B-6BA7-AAE1-B9310CF1903B}"/>
              </a:ext>
            </a:extLst>
          </p:cNvPr>
          <p:cNvGrpSpPr/>
          <p:nvPr/>
        </p:nvGrpSpPr>
        <p:grpSpPr>
          <a:xfrm>
            <a:off x="713225" y="3197770"/>
            <a:ext cx="3407378" cy="480100"/>
            <a:chOff x="713225" y="1607820"/>
            <a:chExt cx="3407378" cy="48010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B3C9514-E5FC-817A-2715-A852151A4C82}"/>
                </a:ext>
              </a:extLst>
            </p:cNvPr>
            <p:cNvSpPr/>
            <p:nvPr/>
          </p:nvSpPr>
          <p:spPr>
            <a:xfrm>
              <a:off x="713225" y="1607820"/>
              <a:ext cx="391675" cy="4801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91AC22F-9B4E-AB06-536B-FEA08C3C47FD}"/>
                </a:ext>
              </a:extLst>
            </p:cNvPr>
            <p:cNvGrpSpPr/>
            <p:nvPr/>
          </p:nvGrpSpPr>
          <p:grpSpPr>
            <a:xfrm>
              <a:off x="1281391" y="1607820"/>
              <a:ext cx="2839212" cy="480100"/>
              <a:chOff x="560826" y="236179"/>
              <a:chExt cx="2839212" cy="480100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5AF7F9DC-6415-9475-3CDB-6986BFA6D355}"/>
                  </a:ext>
                </a:extLst>
              </p:cNvPr>
              <p:cNvSpPr/>
              <p:nvPr/>
            </p:nvSpPr>
            <p:spPr>
              <a:xfrm>
                <a:off x="560826" y="236179"/>
                <a:ext cx="2839212" cy="48010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Rectangle: Rounded Corners 4">
                <a:extLst>
                  <a:ext uri="{FF2B5EF4-FFF2-40B4-BE49-F238E27FC236}">
                    <a16:creationId xmlns:a16="http://schemas.microsoft.com/office/drawing/2014/main" id="{196A3856-350B-BF9E-626C-6BAD8CB0C2A5}"/>
                  </a:ext>
                </a:extLst>
              </p:cNvPr>
              <p:cNvSpPr txBox="1"/>
              <p:nvPr/>
            </p:nvSpPr>
            <p:spPr>
              <a:xfrm>
                <a:off x="584263" y="259616"/>
                <a:ext cx="2792338" cy="43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400" dirty="0">
                    <a:latin typeface="Vidaloka" panose="020B0604020202020204" charset="0"/>
                  </a:rPr>
                  <a:t>Objectives</a:t>
                </a: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D92E8F-442D-8D12-CC09-E4EE10CB03E0}"/>
              </a:ext>
            </a:extLst>
          </p:cNvPr>
          <p:cNvGrpSpPr/>
          <p:nvPr/>
        </p:nvGrpSpPr>
        <p:grpSpPr>
          <a:xfrm>
            <a:off x="5023399" y="1607820"/>
            <a:ext cx="3407378" cy="480100"/>
            <a:chOff x="713225" y="1607820"/>
            <a:chExt cx="3407378" cy="4801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89D7EE4-0D88-D607-7D68-093D3E6C606B}"/>
                </a:ext>
              </a:extLst>
            </p:cNvPr>
            <p:cNvSpPr/>
            <p:nvPr/>
          </p:nvSpPr>
          <p:spPr>
            <a:xfrm>
              <a:off x="713225" y="1607820"/>
              <a:ext cx="391675" cy="4801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  <a:endParaRPr lang="en-US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36CD9B4-1509-B52F-B0F7-8103D4C8954E}"/>
                </a:ext>
              </a:extLst>
            </p:cNvPr>
            <p:cNvGrpSpPr/>
            <p:nvPr/>
          </p:nvGrpSpPr>
          <p:grpSpPr>
            <a:xfrm>
              <a:off x="1281391" y="1607820"/>
              <a:ext cx="2839212" cy="480100"/>
              <a:chOff x="560826" y="236179"/>
              <a:chExt cx="2839212" cy="480100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967B4403-AFE0-413A-C967-13360F6E22E7}"/>
                  </a:ext>
                </a:extLst>
              </p:cNvPr>
              <p:cNvSpPr/>
              <p:nvPr/>
            </p:nvSpPr>
            <p:spPr>
              <a:xfrm>
                <a:off x="560826" y="236179"/>
                <a:ext cx="2839212" cy="48010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Rectangle: Rounded Corners 4">
                <a:extLst>
                  <a:ext uri="{FF2B5EF4-FFF2-40B4-BE49-F238E27FC236}">
                    <a16:creationId xmlns:a16="http://schemas.microsoft.com/office/drawing/2014/main" id="{FF2C3D1D-319A-3C2D-BEC6-FE4658477C15}"/>
                  </a:ext>
                </a:extLst>
              </p:cNvPr>
              <p:cNvSpPr txBox="1"/>
              <p:nvPr/>
            </p:nvSpPr>
            <p:spPr>
              <a:xfrm>
                <a:off x="584263" y="259616"/>
                <a:ext cx="2792338" cy="43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400" dirty="0">
                    <a:latin typeface="Vidaloka" panose="020B0604020202020204" charset="0"/>
                  </a:rPr>
                  <a:t>Factors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E919AD-BE50-CB31-4951-C39C3122304E}"/>
              </a:ext>
            </a:extLst>
          </p:cNvPr>
          <p:cNvGrpSpPr/>
          <p:nvPr/>
        </p:nvGrpSpPr>
        <p:grpSpPr>
          <a:xfrm>
            <a:off x="5023399" y="2386392"/>
            <a:ext cx="3407378" cy="480100"/>
            <a:chOff x="713225" y="1607820"/>
            <a:chExt cx="3407378" cy="4801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489CE12F-70AF-664C-9963-1E5EFAEE32E1}"/>
                </a:ext>
              </a:extLst>
            </p:cNvPr>
            <p:cNvSpPr/>
            <p:nvPr/>
          </p:nvSpPr>
          <p:spPr>
            <a:xfrm>
              <a:off x="713225" y="1607820"/>
              <a:ext cx="391675" cy="4801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  <a:endParaRPr lang="en-US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7DE9708-0661-6654-1183-DB2E69138B99}"/>
                </a:ext>
              </a:extLst>
            </p:cNvPr>
            <p:cNvGrpSpPr/>
            <p:nvPr/>
          </p:nvGrpSpPr>
          <p:grpSpPr>
            <a:xfrm>
              <a:off x="1281391" y="1607820"/>
              <a:ext cx="2839212" cy="480100"/>
              <a:chOff x="560826" y="236179"/>
              <a:chExt cx="2839212" cy="480100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30D416FA-494B-51FB-DB14-DAF2213124D1}"/>
                  </a:ext>
                </a:extLst>
              </p:cNvPr>
              <p:cNvSpPr/>
              <p:nvPr/>
            </p:nvSpPr>
            <p:spPr>
              <a:xfrm>
                <a:off x="560826" y="236179"/>
                <a:ext cx="2839212" cy="48010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Rectangle: Rounded Corners 4">
                <a:extLst>
                  <a:ext uri="{FF2B5EF4-FFF2-40B4-BE49-F238E27FC236}">
                    <a16:creationId xmlns:a16="http://schemas.microsoft.com/office/drawing/2014/main" id="{50A5161F-CC19-F642-8E53-D759676B8E39}"/>
                  </a:ext>
                </a:extLst>
              </p:cNvPr>
              <p:cNvSpPr txBox="1"/>
              <p:nvPr/>
            </p:nvSpPr>
            <p:spPr>
              <a:xfrm>
                <a:off x="584263" y="259616"/>
                <a:ext cx="2792338" cy="43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400" dirty="0">
                    <a:latin typeface="Vidaloka" panose="020B0604020202020204" charset="0"/>
                  </a:rPr>
                  <a:t>Findings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3477E97-7153-AB77-B4FE-C01A752F7BBF}"/>
              </a:ext>
            </a:extLst>
          </p:cNvPr>
          <p:cNvGrpSpPr/>
          <p:nvPr/>
        </p:nvGrpSpPr>
        <p:grpSpPr>
          <a:xfrm>
            <a:off x="5023399" y="3197770"/>
            <a:ext cx="3407378" cy="480100"/>
            <a:chOff x="713225" y="1607820"/>
            <a:chExt cx="3407378" cy="480100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49E3C7B1-2083-33CE-8563-F365F37C5EA6}"/>
                </a:ext>
              </a:extLst>
            </p:cNvPr>
            <p:cNvSpPr/>
            <p:nvPr/>
          </p:nvSpPr>
          <p:spPr>
            <a:xfrm>
              <a:off x="713225" y="1607820"/>
              <a:ext cx="391675" cy="4801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  <a:endParaRPr lang="en-US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F3A227E-46B5-3C7D-67DD-39845C7F202E}"/>
                </a:ext>
              </a:extLst>
            </p:cNvPr>
            <p:cNvGrpSpPr/>
            <p:nvPr/>
          </p:nvGrpSpPr>
          <p:grpSpPr>
            <a:xfrm>
              <a:off x="1281391" y="1607820"/>
              <a:ext cx="2839212" cy="480100"/>
              <a:chOff x="560826" y="236179"/>
              <a:chExt cx="2839212" cy="480100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FBB1D6A1-5802-552B-F5A8-848506159661}"/>
                  </a:ext>
                </a:extLst>
              </p:cNvPr>
              <p:cNvSpPr/>
              <p:nvPr/>
            </p:nvSpPr>
            <p:spPr>
              <a:xfrm>
                <a:off x="560826" y="236179"/>
                <a:ext cx="2839212" cy="48010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Rectangle: Rounded Corners 4">
                <a:extLst>
                  <a:ext uri="{FF2B5EF4-FFF2-40B4-BE49-F238E27FC236}">
                    <a16:creationId xmlns:a16="http://schemas.microsoft.com/office/drawing/2014/main" id="{61DA5B33-3B9B-417C-87A8-164CAEA7A4B2}"/>
                  </a:ext>
                </a:extLst>
              </p:cNvPr>
              <p:cNvSpPr txBox="1"/>
              <p:nvPr/>
            </p:nvSpPr>
            <p:spPr>
              <a:xfrm>
                <a:off x="584263" y="259616"/>
                <a:ext cx="2792338" cy="43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400" dirty="0">
                    <a:latin typeface="Vidaloka" panose="020B0604020202020204" charset="0"/>
                  </a:rPr>
                  <a:t>HIN &amp; Exposure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E04CF92-0BBB-635B-1E0F-0D2F8C88A0B6}"/>
              </a:ext>
            </a:extLst>
          </p:cNvPr>
          <p:cNvGrpSpPr/>
          <p:nvPr/>
        </p:nvGrpSpPr>
        <p:grpSpPr>
          <a:xfrm>
            <a:off x="2868286" y="3992745"/>
            <a:ext cx="3407378" cy="480100"/>
            <a:chOff x="713225" y="1607820"/>
            <a:chExt cx="3407378" cy="4801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9AA091B-72A7-768F-06D6-B0C2949B2097}"/>
                </a:ext>
              </a:extLst>
            </p:cNvPr>
            <p:cNvSpPr/>
            <p:nvPr/>
          </p:nvSpPr>
          <p:spPr>
            <a:xfrm>
              <a:off x="713225" y="1607820"/>
              <a:ext cx="391675" cy="4801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7</a:t>
              </a:r>
              <a:endParaRPr lang="en-US" dirty="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729D095-AD2E-335E-1970-71068C8ED2F0}"/>
                </a:ext>
              </a:extLst>
            </p:cNvPr>
            <p:cNvGrpSpPr/>
            <p:nvPr/>
          </p:nvGrpSpPr>
          <p:grpSpPr>
            <a:xfrm>
              <a:off x="1281391" y="1607820"/>
              <a:ext cx="2839212" cy="480100"/>
              <a:chOff x="560826" y="236179"/>
              <a:chExt cx="2839212" cy="480100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5EBB69D3-3271-9894-8486-5EA80870A3F9}"/>
                  </a:ext>
                </a:extLst>
              </p:cNvPr>
              <p:cNvSpPr/>
              <p:nvPr/>
            </p:nvSpPr>
            <p:spPr>
              <a:xfrm>
                <a:off x="560826" y="236179"/>
                <a:ext cx="2839212" cy="48010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: Rounded Corners 4">
                <a:extLst>
                  <a:ext uri="{FF2B5EF4-FFF2-40B4-BE49-F238E27FC236}">
                    <a16:creationId xmlns:a16="http://schemas.microsoft.com/office/drawing/2014/main" id="{8CF22B33-60E8-1FF6-3D79-223443F07619}"/>
                  </a:ext>
                </a:extLst>
              </p:cNvPr>
              <p:cNvSpPr txBox="1"/>
              <p:nvPr/>
            </p:nvSpPr>
            <p:spPr>
              <a:xfrm>
                <a:off x="584263" y="259616"/>
                <a:ext cx="2792338" cy="43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400" dirty="0">
                    <a:latin typeface="Vidaloka" panose="020B0604020202020204" charset="0"/>
                  </a:rPr>
                  <a:t>Recommendations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3754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8944A-132C-DEC6-6EAC-0DF1EF29C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9">
            <a:extLst>
              <a:ext uri="{FF2B5EF4-FFF2-40B4-BE49-F238E27FC236}">
                <a16:creationId xmlns:a16="http://schemas.microsoft.com/office/drawing/2014/main" id="{03BB5FAE-54E3-BA46-C09A-89F8EF5D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accent6"/>
                </a:solidFill>
              </a:rPr>
              <a:t>What is Vision Zero?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0E2E85D-F57A-5915-AE70-8794E36827BE}"/>
              </a:ext>
            </a:extLst>
          </p:cNvPr>
          <p:cNvGraphicFramePr/>
          <p:nvPr/>
        </p:nvGraphicFramePr>
        <p:xfrm>
          <a:off x="713225" y="1208225"/>
          <a:ext cx="366825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554" name="Picture 2" descr="City Street View">
            <a:extLst>
              <a:ext uri="{FF2B5EF4-FFF2-40B4-BE49-F238E27FC236}">
                <a16:creationId xmlns:a16="http://schemas.microsoft.com/office/drawing/2014/main" id="{AB5FB360-0CC6-6C6F-5827-42512357C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12" r="4" b="6148"/>
          <a:stretch>
            <a:fillRect/>
          </a:stretch>
        </p:blipFill>
        <p:spPr bwMode="auto">
          <a:xfrm>
            <a:off x="4762475" y="1208225"/>
            <a:ext cx="3668250" cy="3264408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31264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1C2DE-3606-80AB-68FE-78657B00C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1">
            <a:extLst>
              <a:ext uri="{FF2B5EF4-FFF2-40B4-BE49-F238E27FC236}">
                <a16:creationId xmlns:a16="http://schemas.microsoft.com/office/drawing/2014/main" id="{AD25E06B-D120-C307-271F-D0BC5DC60E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6250" y="57477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/>
                </a:solidFill>
              </a:rPr>
              <a:t>Proplem Statement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5" name="Google Shape;495;p61">
            <a:extLst>
              <a:ext uri="{FF2B5EF4-FFF2-40B4-BE49-F238E27FC236}">
                <a16:creationId xmlns:a16="http://schemas.microsoft.com/office/drawing/2014/main" id="{99D7AB92-E9DB-0D91-C16D-DE3C4C408FD7}"/>
              </a:ext>
            </a:extLst>
          </p:cNvPr>
          <p:cNvSpPr txBox="1">
            <a:spLocks/>
          </p:cNvSpPr>
          <p:nvPr/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lnSpc>
                <a:spcPct val="150000"/>
              </a:lnSpc>
            </a:pPr>
            <a:r>
              <a:rPr lang="en-US" sz="1800" dirty="0">
                <a:latin typeface="Vidaloka" panose="020B0604020202020204" charset="0"/>
              </a:rPr>
              <a:t>From </a:t>
            </a:r>
            <a:r>
              <a:rPr lang="en-US" sz="1800" b="1" dirty="0">
                <a:latin typeface="Vidaloka" panose="020B0604020202020204" charset="0"/>
              </a:rPr>
              <a:t>2020–2024</a:t>
            </a:r>
            <a:r>
              <a:rPr lang="en-US" sz="1800" dirty="0">
                <a:latin typeface="Vidaloka" panose="020B0604020202020204" charset="0"/>
              </a:rPr>
              <a:t>, Montgomery County recorded </a:t>
            </a:r>
            <a:r>
              <a:rPr lang="en-US" sz="1800" b="1" dirty="0">
                <a:solidFill>
                  <a:srgbClr val="FF0000"/>
                </a:solidFill>
                <a:latin typeface="Vidaloka" panose="020B0604020202020204" charset="0"/>
              </a:rPr>
              <a:t>113K total crashes</a:t>
            </a:r>
            <a:r>
              <a:rPr lang="en-US" sz="1800" dirty="0">
                <a:latin typeface="Vidaloka" panose="020B0604020202020204" charset="0"/>
              </a:rPr>
              <a:t>. Of these,</a:t>
            </a:r>
            <a:r>
              <a:rPr lang="en-US" sz="1800" b="1" dirty="0">
                <a:latin typeface="Vidaloka" panose="020B0604020202020204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Vidaloka" panose="020B0604020202020204" charset="0"/>
              </a:rPr>
              <a:t>(4K crashes)</a:t>
            </a:r>
            <a:r>
              <a:rPr lang="en-US" sz="1800" dirty="0">
                <a:solidFill>
                  <a:srgbClr val="FF0000"/>
                </a:solidFill>
                <a:latin typeface="Vidaloka" panose="020B0604020202020204" charset="0"/>
              </a:rPr>
              <a:t> </a:t>
            </a:r>
            <a:r>
              <a:rPr lang="en-US" sz="1800" dirty="0">
                <a:latin typeface="Vidaloka" panose="020B0604020202020204" charset="0"/>
              </a:rPr>
              <a:t>involved </a:t>
            </a:r>
            <a:r>
              <a:rPr lang="en-US" sz="1800" b="1" dirty="0">
                <a:solidFill>
                  <a:srgbClr val="FF0000"/>
                </a:solidFill>
                <a:latin typeface="Vidaloka" panose="020B0604020202020204" charset="0"/>
              </a:rPr>
              <a:t>fatalities or serious injuries </a:t>
            </a:r>
            <a:r>
              <a:rPr lang="en-US" sz="1800" dirty="0">
                <a:latin typeface="Vidaloka" panose="020B0604020202020204" charset="0"/>
              </a:rPr>
              <a:t>(</a:t>
            </a:r>
            <a:r>
              <a:rPr lang="en-US" sz="1800" b="1" dirty="0">
                <a:latin typeface="Vidaloka" panose="020B0604020202020204" charset="0"/>
              </a:rPr>
              <a:t>KSI</a:t>
            </a:r>
            <a:r>
              <a:rPr lang="en-US" sz="1800" dirty="0">
                <a:latin typeface="Vidaloka" panose="020B0604020202020204" charset="0"/>
              </a:rPr>
              <a:t>), at an estimated </a:t>
            </a:r>
            <a:r>
              <a:rPr lang="en-US" sz="1800" b="1" dirty="0">
                <a:solidFill>
                  <a:srgbClr val="FF0000"/>
                </a:solidFill>
                <a:latin typeface="Vidaloka" panose="020B0604020202020204" charset="0"/>
              </a:rPr>
              <a:t>$6.3 billion</a:t>
            </a:r>
            <a:r>
              <a:rPr lang="en-US" sz="1800" dirty="0">
                <a:solidFill>
                  <a:srgbClr val="FF0000"/>
                </a:solidFill>
                <a:latin typeface="Vidaloka" panose="020B0604020202020204" charset="0"/>
              </a:rPr>
              <a:t> </a:t>
            </a:r>
            <a:r>
              <a:rPr lang="en-US" sz="1800" dirty="0">
                <a:latin typeface="Vidaloka" panose="020B0604020202020204" charset="0"/>
              </a:rPr>
              <a:t>in societal cost.</a:t>
            </a:r>
          </a:p>
          <a:p>
            <a:pPr marL="114300">
              <a:lnSpc>
                <a:spcPct val="150000"/>
              </a:lnSpc>
            </a:pPr>
            <a:endParaRPr lang="en-US" sz="1800" dirty="0">
              <a:latin typeface="Vidaloka" panose="020B0604020202020204" charset="0"/>
            </a:endParaRPr>
          </a:p>
          <a:p>
            <a:pPr marL="114300">
              <a:lnSpc>
                <a:spcPct val="150000"/>
              </a:lnSpc>
            </a:pPr>
            <a:r>
              <a:rPr lang="en-US" sz="1800" dirty="0">
                <a:latin typeface="Vidaloka" panose="020B0604020202020204" charset="0"/>
              </a:rPr>
              <a:t>To reach </a:t>
            </a:r>
            <a:r>
              <a:rPr lang="en-US" sz="1800" b="1" dirty="0">
                <a:latin typeface="Vidaloka" panose="020B0604020202020204" charset="0"/>
              </a:rPr>
              <a:t>Vision Zero</a:t>
            </a:r>
            <a:r>
              <a:rPr lang="en-US" sz="1800" dirty="0">
                <a:latin typeface="Vidaloka" panose="020B0604020202020204" charset="0"/>
              </a:rPr>
              <a:t>, the County must </a:t>
            </a:r>
            <a:r>
              <a:rPr lang="en-US" sz="1800" b="1" dirty="0">
                <a:latin typeface="Vidaloka" panose="020B0604020202020204" charset="0"/>
              </a:rPr>
              <a:t>focus enforcement, engineering, and policy</a:t>
            </a:r>
            <a:r>
              <a:rPr lang="en-US" sz="1800" dirty="0">
                <a:latin typeface="Vidaloka" panose="020B0604020202020204" charset="0"/>
              </a:rPr>
              <a:t> on the </a:t>
            </a:r>
            <a:r>
              <a:rPr lang="en-US" sz="1800" b="1" dirty="0">
                <a:latin typeface="Vidaloka" panose="020B0604020202020204" charset="0"/>
              </a:rPr>
              <a:t>corridors and conditions most strongly linked to severe crashes</a:t>
            </a:r>
            <a:r>
              <a:rPr lang="en-US" sz="1800" dirty="0">
                <a:latin typeface="Vidaloka" panose="020B0604020202020204" charset="0"/>
              </a:rPr>
              <a:t>, to drive down both </a:t>
            </a:r>
            <a:r>
              <a:rPr lang="en-US" sz="1800" b="1" dirty="0">
                <a:latin typeface="Vidaloka" panose="020B0604020202020204" charset="0"/>
              </a:rPr>
              <a:t>lives lost</a:t>
            </a:r>
            <a:r>
              <a:rPr lang="en-US" sz="1800" dirty="0">
                <a:latin typeface="Vidaloka" panose="020B0604020202020204" charset="0"/>
              </a:rPr>
              <a:t> and </a:t>
            </a:r>
            <a:r>
              <a:rPr lang="en-US" sz="1800" b="1" dirty="0">
                <a:latin typeface="Vidaloka" panose="020B0604020202020204" charset="0"/>
              </a:rPr>
              <a:t>economic cost</a:t>
            </a:r>
            <a:r>
              <a:rPr lang="en-US" sz="1800" dirty="0">
                <a:latin typeface="Vidaloka" panose="020B0604020202020204" charset="0"/>
              </a:rPr>
              <a:t>.</a:t>
            </a:r>
            <a:endParaRPr lang="en-US" sz="2800" dirty="0">
              <a:latin typeface="Vidalok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52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A5C4C-D2DD-6E88-2732-27B11E4C5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1">
            <a:extLst>
              <a:ext uri="{FF2B5EF4-FFF2-40B4-BE49-F238E27FC236}">
                <a16:creationId xmlns:a16="http://schemas.microsoft.com/office/drawing/2014/main" id="{6A0FFDCF-EDC5-F347-2821-CE8662A31D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/>
                </a:solidFill>
              </a:rPr>
              <a:t>Objectives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ECE9B-F0BF-8A91-7CC0-D57F4A62F683}"/>
              </a:ext>
            </a:extLst>
          </p:cNvPr>
          <p:cNvSpPr txBox="1"/>
          <p:nvPr/>
        </p:nvSpPr>
        <p:spPr>
          <a:xfrm>
            <a:off x="380063" y="1232682"/>
            <a:ext cx="8566990" cy="2959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Vidaloka" panose="020B0604020202020204" charset="0"/>
              </a:rPr>
              <a:t>When and where do </a:t>
            </a:r>
            <a:r>
              <a:rPr lang="en-US" sz="1800" b="1" dirty="0">
                <a:solidFill>
                  <a:srgbClr val="FF0000"/>
                </a:solidFill>
                <a:latin typeface="Vidaloka" panose="020B0604020202020204" charset="0"/>
              </a:rPr>
              <a:t>severe crashes </a:t>
            </a:r>
            <a:r>
              <a:rPr lang="en-US" sz="1800" b="1" dirty="0">
                <a:latin typeface="Vidaloka" panose="020B0604020202020204" charset="0"/>
              </a:rPr>
              <a:t>occur (2020–2024)?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Vidaloka" panose="020B0604020202020204" charset="0"/>
              </a:rPr>
              <a:t>Which </a:t>
            </a:r>
            <a:r>
              <a:rPr lang="en-US" sz="1800" b="1" dirty="0">
                <a:solidFill>
                  <a:srgbClr val="FF0000"/>
                </a:solidFill>
                <a:latin typeface="Vidaloka" panose="020B0604020202020204" charset="0"/>
              </a:rPr>
              <a:t>roadway</a:t>
            </a:r>
            <a:r>
              <a:rPr lang="en-US" sz="1800" b="1" dirty="0">
                <a:latin typeface="Vidaloka" panose="020B0604020202020204" charset="0"/>
              </a:rPr>
              <a:t>, </a:t>
            </a:r>
            <a:r>
              <a:rPr lang="en-US" sz="1800" b="1" dirty="0">
                <a:solidFill>
                  <a:srgbClr val="FF0000"/>
                </a:solidFill>
                <a:latin typeface="Vidaloka" panose="020B0604020202020204" charset="0"/>
              </a:rPr>
              <a:t>environmental</a:t>
            </a:r>
            <a:r>
              <a:rPr lang="en-US" sz="1800" b="1" dirty="0">
                <a:latin typeface="Vidaloka" panose="020B0604020202020204" charset="0"/>
              </a:rPr>
              <a:t>, and </a:t>
            </a:r>
            <a:r>
              <a:rPr lang="en-US" sz="1800" b="1" dirty="0">
                <a:solidFill>
                  <a:srgbClr val="FF0000"/>
                </a:solidFill>
                <a:latin typeface="Vidaloka" panose="020B0604020202020204" charset="0"/>
              </a:rPr>
              <a:t>driver factors </a:t>
            </a:r>
            <a:r>
              <a:rPr lang="en-US" sz="1800" b="1" dirty="0">
                <a:latin typeface="Vidaloka" panose="020B0604020202020204" charset="0"/>
              </a:rPr>
              <a:t>increase crash severity?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Vidaloka" panose="020B0604020202020204" charset="0"/>
              </a:rPr>
              <a:t>What is the role of </a:t>
            </a:r>
            <a:r>
              <a:rPr lang="en-US" sz="1800" b="1" dirty="0">
                <a:solidFill>
                  <a:srgbClr val="FF0000"/>
                </a:solidFill>
                <a:latin typeface="Vidaloka" panose="020B0604020202020204" charset="0"/>
              </a:rPr>
              <a:t>vulnerable road users </a:t>
            </a:r>
            <a:r>
              <a:rPr lang="en-US" sz="1800" b="1" dirty="0">
                <a:latin typeface="Vidaloka" panose="020B0604020202020204" charset="0"/>
              </a:rPr>
              <a:t>(VRUs)?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Vidaloka" panose="020B0604020202020204" charset="0"/>
              </a:rPr>
              <a:t>Where does the </a:t>
            </a:r>
            <a:r>
              <a:rPr lang="en-US" sz="1800" b="1" dirty="0">
                <a:solidFill>
                  <a:srgbClr val="FF0000"/>
                </a:solidFill>
                <a:latin typeface="Vidaloka" panose="020B0604020202020204" charset="0"/>
              </a:rPr>
              <a:t>harm concentrate</a:t>
            </a:r>
            <a:r>
              <a:rPr lang="en-US" sz="1800" b="1" dirty="0">
                <a:latin typeface="Vidaloka" panose="020B0604020202020204" charset="0"/>
              </a:rPr>
              <a:t>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Vidaloka" panose="020B0604020202020204" charset="0"/>
              </a:rPr>
              <a:t>How does </a:t>
            </a:r>
            <a:r>
              <a:rPr lang="en-US" sz="1800" b="1" dirty="0">
                <a:solidFill>
                  <a:srgbClr val="FF0000"/>
                </a:solidFill>
                <a:latin typeface="Vidaloka" panose="020B0604020202020204" charset="0"/>
              </a:rPr>
              <a:t>exposure</a:t>
            </a:r>
            <a:r>
              <a:rPr lang="en-US" sz="1800" b="1" dirty="0">
                <a:latin typeface="Vidaloka" panose="020B0604020202020204" charset="0"/>
              </a:rPr>
              <a:t> (AADT) change the picture?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Vidaloka" panose="020B0604020202020204" charset="0"/>
              </a:rPr>
              <a:t>Which corridors should be </a:t>
            </a:r>
            <a:r>
              <a:rPr lang="en-US" sz="1800" b="1" dirty="0">
                <a:solidFill>
                  <a:srgbClr val="FF0000"/>
                </a:solidFill>
                <a:latin typeface="Vidaloka" panose="020B0604020202020204" charset="0"/>
              </a:rPr>
              <a:t>prioritized for interventions</a:t>
            </a:r>
            <a:r>
              <a:rPr lang="en-US" sz="1800" b="1" dirty="0">
                <a:latin typeface="Vidaloka" panose="020B0604020202020204" charset="0"/>
              </a:rPr>
              <a:t>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>
                <a:latin typeface="Vidaloka" panose="020B0604020202020204" charset="0"/>
              </a:rPr>
              <a:t>How should progress be </a:t>
            </a:r>
            <a:r>
              <a:rPr lang="en-US" sz="1800" b="1" dirty="0">
                <a:solidFill>
                  <a:srgbClr val="FF0000"/>
                </a:solidFill>
                <a:latin typeface="Vidaloka" panose="020B0604020202020204" charset="0"/>
              </a:rPr>
              <a:t>monitored</a:t>
            </a:r>
            <a:r>
              <a:rPr lang="en-US" sz="1800" b="1" dirty="0">
                <a:latin typeface="Vidaloka" panose="020B060402020202020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5811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5F2EA-000C-7BD4-C6CC-E1DBA50BE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4"/>
            <a:ext cx="7717500" cy="673357"/>
          </a:xfrm>
        </p:spPr>
        <p:txBody>
          <a:bodyPr/>
          <a:lstStyle/>
          <a:p>
            <a:pPr lvl="0" algn="ctr"/>
            <a:r>
              <a:rPr lang="en-US" sz="2500" dirty="0">
                <a:solidFill>
                  <a:schemeClr val="accent6"/>
                </a:solidFill>
              </a:rPr>
              <a:t>KSI crashes remain steady while totals fluctuate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D187E795-6EFC-19C1-D5E0-D6A9E468A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8450"/>
            <a:ext cx="9144000" cy="357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41DF19-9260-2C4B-1323-D74218FDC6EF}"/>
              </a:ext>
            </a:extLst>
          </p:cNvPr>
          <p:cNvSpPr/>
          <p:nvPr/>
        </p:nvSpPr>
        <p:spPr>
          <a:xfrm>
            <a:off x="274320" y="4382086"/>
            <a:ext cx="8602394" cy="393896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63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4989E-0EB6-F283-16E7-9A92F36B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245" y="439884"/>
            <a:ext cx="4163003" cy="5727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KABCO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25AD86E-BA92-24C8-9385-212B79D87D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0960992"/>
              </p:ext>
            </p:extLst>
          </p:nvPr>
        </p:nvGraphicFramePr>
        <p:xfrm>
          <a:off x="386201" y="1732303"/>
          <a:ext cx="3605532" cy="2250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Google Shape;494;p61">
            <a:extLst>
              <a:ext uri="{FF2B5EF4-FFF2-40B4-BE49-F238E27FC236}">
                <a16:creationId xmlns:a16="http://schemas.microsoft.com/office/drawing/2014/main" id="{4FCD1391-650A-8CF0-6E7A-E2ADF81FD0ED}"/>
              </a:ext>
            </a:extLst>
          </p:cNvPr>
          <p:cNvSpPr txBox="1">
            <a:spLocks/>
          </p:cNvSpPr>
          <p:nvPr/>
        </p:nvSpPr>
        <p:spPr>
          <a:xfrm>
            <a:off x="386201" y="439884"/>
            <a:ext cx="36055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accent6"/>
                </a:solidFill>
              </a:rPr>
              <a:t>Factors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BCB161-AB64-61BD-1C8C-30160056CBCB}"/>
              </a:ext>
            </a:extLst>
          </p:cNvPr>
          <p:cNvSpPr/>
          <p:nvPr/>
        </p:nvSpPr>
        <p:spPr>
          <a:xfrm>
            <a:off x="4287130" y="1732304"/>
            <a:ext cx="45719" cy="22501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5BEBB62E-3C2F-FCF2-9D29-8B8D810DE7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4431628"/>
              </p:ext>
            </p:extLst>
          </p:nvPr>
        </p:nvGraphicFramePr>
        <p:xfrm>
          <a:off x="4628246" y="1732304"/>
          <a:ext cx="4163003" cy="2250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68606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3C26-8300-0183-D721-5B08FBE0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1999050"/>
            <a:ext cx="7717500" cy="5727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Makes Some Crashes More Deadly Than Others?</a:t>
            </a:r>
          </a:p>
        </p:txBody>
      </p:sp>
    </p:spTree>
    <p:extLst>
      <p:ext uri="{BB962C8B-B14F-4D97-AF65-F5344CB8AC3E}">
        <p14:creationId xmlns:p14="http://schemas.microsoft.com/office/powerpoint/2010/main" val="1594979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50072-EAA5-ED4D-BCD1-AB50E26CB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374687"/>
            <a:ext cx="7717500" cy="572700"/>
          </a:xfrm>
        </p:spPr>
        <p:txBody>
          <a:bodyPr/>
          <a:lstStyle/>
          <a:p>
            <a:pPr algn="ctr"/>
            <a:r>
              <a:rPr lang="en-US" sz="2500" dirty="0">
                <a:solidFill>
                  <a:schemeClr val="accent6"/>
                </a:solidFill>
              </a:rPr>
              <a:t>Pedestrian, bicyclist, and DUI crashes are far more deadly</a:t>
            </a:r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9EF3A103-545A-96AF-D0C9-FB4A75CC0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4775"/>
            <a:ext cx="9144000" cy="376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D9A8E6-D7BA-F88E-5D9B-36B48754BFA8}"/>
              </a:ext>
            </a:extLst>
          </p:cNvPr>
          <p:cNvSpPr/>
          <p:nvPr/>
        </p:nvSpPr>
        <p:spPr>
          <a:xfrm>
            <a:off x="63305" y="3770142"/>
            <a:ext cx="8869680" cy="829993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33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EC64B-8E0A-104A-D850-896C2E214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70C08-09E4-F0D8-B7C9-1AE8CE1A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1999050"/>
            <a:ext cx="7717500" cy="5727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Average cost per crash shows the true impact of each severe crash on society.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102DF3F-031A-ECA9-87A5-8018F32F47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8834009"/>
              </p:ext>
            </p:extLst>
          </p:nvPr>
        </p:nvGraphicFramePr>
        <p:xfrm>
          <a:off x="2331720" y="3334043"/>
          <a:ext cx="4480560" cy="11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021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9E1A-4A1A-127B-B842-147DA7685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accent6"/>
                </a:solidFill>
              </a:rPr>
              <a:t>Average pedestrian crash costs society $0.75M — double bicyclist crashes</a:t>
            </a:r>
          </a:p>
        </p:txBody>
      </p:sp>
      <p:pic>
        <p:nvPicPr>
          <p:cNvPr id="1026" name="Picture 2" descr="A graph of a bar chart&#10;&#10;AI-generated content may be incorrect.">
            <a:extLst>
              <a:ext uri="{FF2B5EF4-FFF2-40B4-BE49-F238E27FC236}">
                <a16:creationId xmlns:a16="http://schemas.microsoft.com/office/drawing/2014/main" id="{ABC592DF-C7E7-703F-A94E-E09B7A0AF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9" r="4" b="4"/>
          <a:stretch>
            <a:fillRect/>
          </a:stretch>
        </p:blipFill>
        <p:spPr bwMode="auto">
          <a:xfrm>
            <a:off x="713200" y="1177406"/>
            <a:ext cx="3858775" cy="343395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" name="Picture 3" descr="A group of people riding bicycles on a crosswalk&#10;&#10;AI-generated content may be incorrect.">
            <a:extLst>
              <a:ext uri="{FF2B5EF4-FFF2-40B4-BE49-F238E27FC236}">
                <a16:creationId xmlns:a16="http://schemas.microsoft.com/office/drawing/2014/main" id="{C3878E93-D56C-5706-B036-C445F233AE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02" r="8289" b="-2"/>
          <a:stretch>
            <a:fillRect/>
          </a:stretch>
        </p:blipFill>
        <p:spPr>
          <a:xfrm>
            <a:off x="5148775" y="1434067"/>
            <a:ext cx="3281950" cy="2920636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363162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69C8C-FA86-4CCF-5CD4-73CF060EA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500" dirty="0">
                <a:solidFill>
                  <a:schemeClr val="accent6"/>
                </a:solidFill>
              </a:rPr>
              <a:t>Crashes involving DUI cost more than twice as much as other crashes</a:t>
            </a:r>
          </a:p>
        </p:txBody>
      </p:sp>
      <p:pic>
        <p:nvPicPr>
          <p:cNvPr id="2052" name="Picture 4" descr="A graph of a bar chart&#10;&#10;AI-generated content may be incorrect.">
            <a:extLst>
              <a:ext uri="{FF2B5EF4-FFF2-40B4-BE49-F238E27FC236}">
                <a16:creationId xmlns:a16="http://schemas.microsoft.com/office/drawing/2014/main" id="{87747C02-C72B-5B11-9776-ACC2647D3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850"/>
          <a:stretch>
            <a:fillRect/>
          </a:stretch>
        </p:blipFill>
        <p:spPr bwMode="auto">
          <a:xfrm>
            <a:off x="713207" y="1208225"/>
            <a:ext cx="3858768" cy="343395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5" name="Picture 4" descr="A person sitting in a car with an object in his hand&#10;&#10;AI-generated content may be incorrect.">
            <a:extLst>
              <a:ext uri="{FF2B5EF4-FFF2-40B4-BE49-F238E27FC236}">
                <a16:creationId xmlns:a16="http://schemas.microsoft.com/office/drawing/2014/main" id="{32F78D9E-4541-8BB5-2C15-665FA265D9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1" r="23620" b="-2"/>
          <a:stretch>
            <a:fillRect/>
          </a:stretch>
        </p:blipFill>
        <p:spPr>
          <a:xfrm>
            <a:off x="5152933" y="1466733"/>
            <a:ext cx="3277792" cy="2916936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3B31012-1685-208B-8CD4-EE385A1D6802}"/>
              </a:ext>
            </a:extLst>
          </p:cNvPr>
          <p:cNvSpPr/>
          <p:nvPr/>
        </p:nvSpPr>
        <p:spPr>
          <a:xfrm>
            <a:off x="713207" y="4480560"/>
            <a:ext cx="3727913" cy="2908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96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86D897-7FFA-BDD8-AEF7-83E1E76D0232}"/>
              </a:ext>
            </a:extLst>
          </p:cNvPr>
          <p:cNvSpPr txBox="1"/>
          <p:nvPr/>
        </p:nvSpPr>
        <p:spPr>
          <a:xfrm>
            <a:off x="948690" y="2094696"/>
            <a:ext cx="7246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Vidaloka" panose="020B0604020202020204" charset="0"/>
              </a:rPr>
              <a:t>As Resources Are Limited So As People’s Attention</a:t>
            </a:r>
          </a:p>
        </p:txBody>
      </p:sp>
    </p:spTree>
    <p:extLst>
      <p:ext uri="{BB962C8B-B14F-4D97-AF65-F5344CB8AC3E}">
        <p14:creationId xmlns:p14="http://schemas.microsoft.com/office/powerpoint/2010/main" val="3957713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A030-E2E3-9190-5AD0-199BFAEF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What is a High Injury Network?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663F6-6972-1AC4-82EA-4A281DBB39E4}"/>
              </a:ext>
            </a:extLst>
          </p:cNvPr>
          <p:cNvSpPr txBox="1"/>
          <p:nvPr/>
        </p:nvSpPr>
        <p:spPr>
          <a:xfrm>
            <a:off x="801858" y="1427871"/>
            <a:ext cx="7920111" cy="116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Vidaloka" panose="020B0604020202020204" charset="0"/>
              </a:rPr>
              <a:t>There is </a:t>
            </a:r>
            <a:r>
              <a:rPr lang="en-US" sz="1600" dirty="0">
                <a:solidFill>
                  <a:srgbClr val="FF0000"/>
                </a:solidFill>
                <a:latin typeface="Vidaloka" panose="020B0604020202020204" charset="0"/>
              </a:rPr>
              <a:t>no definitive way </a:t>
            </a:r>
            <a:r>
              <a:rPr lang="en-US" sz="1600" dirty="0">
                <a:latin typeface="Vidaloka" panose="020B0604020202020204" charset="0"/>
              </a:rPr>
              <a:t>to create 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Vidaloka" panose="020B0604020202020204" charset="0"/>
              </a:rPr>
              <a:t>Instead of looking at every crash everywhere, HIN focuses on the </a:t>
            </a:r>
            <a:r>
              <a:rPr lang="en-US" sz="1600" dirty="0">
                <a:solidFill>
                  <a:srgbClr val="FF0000"/>
                </a:solidFill>
                <a:latin typeface="Vidaloka" panose="020B0604020202020204" charset="0"/>
              </a:rPr>
              <a:t>worst corridors</a:t>
            </a:r>
            <a:r>
              <a:rPr lang="en-US" sz="1600" dirty="0">
                <a:latin typeface="Vidaloka" panose="020B060402020202020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Vidaloka" panose="020B0604020202020204" charset="0"/>
              </a:rPr>
              <a:t>Identify </a:t>
            </a:r>
            <a:r>
              <a:rPr lang="en-US" sz="1600" dirty="0">
                <a:solidFill>
                  <a:srgbClr val="FF0000"/>
                </a:solidFill>
                <a:latin typeface="Vidaloka" panose="020B0604020202020204" charset="0"/>
              </a:rPr>
              <a:t>the smallest % of</a:t>
            </a:r>
            <a:r>
              <a:rPr lang="en-US" sz="1600" dirty="0">
                <a:latin typeface="Vidaloka" panose="020B0604020202020204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Vidaloka" panose="020B0604020202020204" charset="0"/>
              </a:rPr>
              <a:t>roads</a:t>
            </a:r>
            <a:r>
              <a:rPr lang="en-US" sz="1600" dirty="0">
                <a:latin typeface="Vidaloka" panose="020B0604020202020204" charset="0"/>
              </a:rPr>
              <a:t> responsible for the </a:t>
            </a:r>
            <a:r>
              <a:rPr lang="en-US" sz="1600" dirty="0">
                <a:solidFill>
                  <a:srgbClr val="FF0000"/>
                </a:solidFill>
                <a:latin typeface="Vidaloka" panose="020B0604020202020204" charset="0"/>
              </a:rPr>
              <a:t>largest % of KSI crashes</a:t>
            </a:r>
            <a:r>
              <a:rPr lang="en-US" sz="1600" dirty="0">
                <a:latin typeface="Vidaloka" panose="020B060402020202020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B5162-F502-5835-E36E-8EDB25F4C743}"/>
              </a:ext>
            </a:extLst>
          </p:cNvPr>
          <p:cNvSpPr txBox="1"/>
          <p:nvPr/>
        </p:nvSpPr>
        <p:spPr>
          <a:xfrm>
            <a:off x="801858" y="2686053"/>
            <a:ext cx="7406640" cy="1578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 dirty="0">
                <a:latin typeface="Vidaloka" panose="020B0604020202020204" charset="0"/>
              </a:rPr>
              <a:t>We created Montgomery County’s HIN by: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Vidaloka" panose="020B0604020202020204" charset="0"/>
              </a:rPr>
              <a:t>Splitting roads into </a:t>
            </a:r>
            <a:r>
              <a:rPr lang="en-US" sz="1600" dirty="0">
                <a:solidFill>
                  <a:srgbClr val="FF0000"/>
                </a:solidFill>
                <a:latin typeface="Vidaloka" panose="020B0604020202020204" charset="0"/>
              </a:rPr>
              <a:t>small segments (~½ km).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  <a:latin typeface="Vidaloka" panose="020B0604020202020204" charset="0"/>
              </a:rPr>
              <a:t>Counting KSI crashes </a:t>
            </a:r>
            <a:r>
              <a:rPr lang="en-US" sz="1600" dirty="0">
                <a:latin typeface="Vidaloka" panose="020B0604020202020204" charset="0"/>
              </a:rPr>
              <a:t>on each segment (2020–2024).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  <a:latin typeface="Vidaloka" panose="020B0604020202020204" charset="0"/>
              </a:rPr>
              <a:t>Ranking segments </a:t>
            </a:r>
            <a:r>
              <a:rPr lang="en-US" sz="1600" dirty="0">
                <a:latin typeface="Vidaloka" panose="020B0604020202020204" charset="0"/>
              </a:rPr>
              <a:t>from highest to lowest harm.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D12AEE-E674-1030-711E-676DF7704233}"/>
              </a:ext>
            </a:extLst>
          </p:cNvPr>
          <p:cNvSpPr/>
          <p:nvPr/>
        </p:nvSpPr>
        <p:spPr>
          <a:xfrm rot="5400000">
            <a:off x="4549115" y="-80009"/>
            <a:ext cx="45719" cy="55778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2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E50979-7842-F7E8-0DB1-3859158FB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432" y="373242"/>
            <a:ext cx="5439136" cy="4397016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2396672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5A16A-64CA-08A4-5C86-251685F7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ACCB7-35EF-2F7B-E9A7-9BDE8627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311" y="1691672"/>
            <a:ext cx="3279500" cy="1760154"/>
          </a:xfrm>
        </p:spPr>
        <p:txBody>
          <a:bodyPr/>
          <a:lstStyle/>
          <a:p>
            <a:r>
              <a:rPr lang="en-US" sz="2000" dirty="0"/>
              <a:t>9.9% of roads account for (50% KSI) </a:t>
            </a:r>
            <a:r>
              <a:rPr lang="en-US" sz="2000" dirty="0">
                <a:solidFill>
                  <a:srgbClr val="FF0000"/>
                </a:solidFill>
              </a:rPr>
              <a:t>RED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14.6% of roads account for (65% KSI) </a:t>
            </a:r>
            <a:r>
              <a:rPr lang="en-US" sz="2000" dirty="0">
                <a:solidFill>
                  <a:srgbClr val="FF0000"/>
                </a:solidFill>
              </a:rPr>
              <a:t>RED </a:t>
            </a:r>
            <a:r>
              <a:rPr lang="en-US" sz="2000" dirty="0">
                <a:solidFill>
                  <a:schemeClr val="tx1"/>
                </a:solidFill>
              </a:rPr>
              <a:t>+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0070C0"/>
                </a:solidFill>
              </a:rPr>
              <a:t>BLUE</a:t>
            </a: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8444BAB-0F4F-B769-1285-EBB7AAEF4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503" y="492722"/>
            <a:ext cx="4757380" cy="4158055"/>
          </a:xfrm>
          <a:prstGeom prst="rect">
            <a:avLst/>
          </a:prstGeom>
          <a:noFill/>
          <a:ln w="1905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053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D88D-0325-4A57-C1B9-62D62942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500" dirty="0">
                <a:solidFill>
                  <a:schemeClr val="accent6"/>
                </a:solidFill>
              </a:rPr>
              <a:t>Top 10 Road Segments by KSI Crashes (2020–2024)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67135E3F-216D-4CA2-7FEC-F1BB54719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46" y="1017725"/>
            <a:ext cx="7737231" cy="382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7C5782-A6D8-0294-84F3-FB48D897BD18}"/>
              </a:ext>
            </a:extLst>
          </p:cNvPr>
          <p:cNvSpPr/>
          <p:nvPr/>
        </p:nvSpPr>
        <p:spPr>
          <a:xfrm>
            <a:off x="1139483" y="1216855"/>
            <a:ext cx="7230794" cy="1033976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0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071ACA-6142-7CD9-ECFB-B0D600B16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F93531-56BA-AE23-5617-699DC74FB5F7}"/>
              </a:ext>
            </a:extLst>
          </p:cNvPr>
          <p:cNvSpPr txBox="1"/>
          <p:nvPr/>
        </p:nvSpPr>
        <p:spPr>
          <a:xfrm>
            <a:off x="948690" y="2094696"/>
            <a:ext cx="7246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Vidaloka" panose="020B0604020202020204" charset="0"/>
              </a:rPr>
              <a:t>Do accidents happen because of high traffic or road conditions?</a:t>
            </a:r>
          </a:p>
        </p:txBody>
      </p:sp>
    </p:spTree>
    <p:extLst>
      <p:ext uri="{BB962C8B-B14F-4D97-AF65-F5344CB8AC3E}">
        <p14:creationId xmlns:p14="http://schemas.microsoft.com/office/powerpoint/2010/main" val="1679540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AC50F-3A73-8591-986E-C4DED1F9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645D-6071-6C2D-2754-84F024F85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500" dirty="0">
                <a:solidFill>
                  <a:schemeClr val="accent6"/>
                </a:solidFill>
              </a:rPr>
              <a:t>Top 10 Segments by Exposure-Adjusted KSI Rate</a:t>
            </a:r>
          </a:p>
        </p:txBody>
      </p:sp>
      <p:pic>
        <p:nvPicPr>
          <p:cNvPr id="5130" name="Picture 10">
            <a:extLst>
              <a:ext uri="{FF2B5EF4-FFF2-40B4-BE49-F238E27FC236}">
                <a16:creationId xmlns:a16="http://schemas.microsoft.com/office/drawing/2014/main" id="{F82210AF-5FD1-836F-4A98-FE8A9CC4C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25" y="1027958"/>
            <a:ext cx="7441809" cy="367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F9A47CD-36EF-0138-5670-0DABB5DB54AE}"/>
              </a:ext>
            </a:extLst>
          </p:cNvPr>
          <p:cNvSpPr/>
          <p:nvPr/>
        </p:nvSpPr>
        <p:spPr>
          <a:xfrm>
            <a:off x="618978" y="1174652"/>
            <a:ext cx="7536056" cy="1041010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844A3ED-AE28-ACAD-91FC-05EFF1FEB0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1155153"/>
              </p:ext>
            </p:extLst>
          </p:nvPr>
        </p:nvGraphicFramePr>
        <p:xfrm>
          <a:off x="5620042" y="3074532"/>
          <a:ext cx="2534991" cy="1041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318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068674-B7FE-D42D-A243-F473758C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E4D7F422-3907-FD3E-03F2-4657CF30E4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1735754"/>
              </p:ext>
            </p:extLst>
          </p:nvPr>
        </p:nvGraphicFramePr>
        <p:xfrm>
          <a:off x="1439594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6867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0D93C-439F-70E4-DE08-A42D38779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40204A-4314-3A9F-14A0-F2639159DDE0}"/>
              </a:ext>
            </a:extLst>
          </p:cNvPr>
          <p:cNvSpPr txBox="1"/>
          <p:nvPr/>
        </p:nvSpPr>
        <p:spPr>
          <a:xfrm>
            <a:off x="948690" y="2094696"/>
            <a:ext cx="7246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Vidaloka" panose="020B0604020202020204" charset="0"/>
              </a:rPr>
              <a:t>Now We Need to Consider (Equity &amp; Vulnerable Users)</a:t>
            </a:r>
          </a:p>
        </p:txBody>
      </p:sp>
    </p:spTree>
    <p:extLst>
      <p:ext uri="{BB962C8B-B14F-4D97-AF65-F5344CB8AC3E}">
        <p14:creationId xmlns:p14="http://schemas.microsoft.com/office/powerpoint/2010/main" val="655584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C89B-0CCD-7060-5F0E-D01E2C9C5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46526C-8AF5-BE3C-08E9-294A7DDD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500" dirty="0">
                <a:solidFill>
                  <a:schemeClr val="accent6"/>
                </a:solidFill>
              </a:rPr>
              <a:t>Prioritization Score Formula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F2789-B811-FAE0-29B8-0B81EF4A92A8}"/>
              </a:ext>
            </a:extLst>
          </p:cNvPr>
          <p:cNvSpPr txBox="1"/>
          <p:nvPr/>
        </p:nvSpPr>
        <p:spPr>
          <a:xfrm>
            <a:off x="372794" y="2575679"/>
            <a:ext cx="1983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Vidaloka" panose="020B0604020202020204" charset="0"/>
              </a:rPr>
              <a:t>Priority Score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42DF0C-3142-827F-0886-93A563E20FF3}"/>
              </a:ext>
            </a:extLst>
          </p:cNvPr>
          <p:cNvSpPr/>
          <p:nvPr/>
        </p:nvSpPr>
        <p:spPr>
          <a:xfrm rot="5400000">
            <a:off x="5581659" y="-152434"/>
            <a:ext cx="45719" cy="59548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10D2B8-483A-353D-12A8-848F456D2F16}"/>
              </a:ext>
            </a:extLst>
          </p:cNvPr>
          <p:cNvSpPr txBox="1"/>
          <p:nvPr/>
        </p:nvSpPr>
        <p:spPr>
          <a:xfrm>
            <a:off x="2627114" y="1955272"/>
            <a:ext cx="11394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Vidaloka" panose="020B0604020202020204" charset="0"/>
              </a:rPr>
              <a:t>Fatal &amp; severe </a:t>
            </a:r>
            <a:r>
              <a:rPr lang="en-US" dirty="0">
                <a:solidFill>
                  <a:schemeClr val="tx1"/>
                </a:solidFill>
                <a:latin typeface="Vidaloka" panose="020B0604020202020204" charset="0"/>
              </a:rPr>
              <a:t>collisions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3DC910-F18C-B4D2-76C5-A25E54047DC9}"/>
              </a:ext>
            </a:extLst>
          </p:cNvPr>
          <p:cNvSpPr txBox="1"/>
          <p:nvPr/>
        </p:nvSpPr>
        <p:spPr>
          <a:xfrm>
            <a:off x="3911943" y="2062994"/>
            <a:ext cx="12186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Vidaloka" panose="020B0604020202020204" charset="0"/>
              </a:rPr>
              <a:t>(0.5 x </a:t>
            </a:r>
            <a:r>
              <a:rPr lang="en-US" dirty="0">
                <a:solidFill>
                  <a:srgbClr val="FF0000"/>
                </a:solidFill>
                <a:latin typeface="Vidaloka" panose="020B0604020202020204" charset="0"/>
              </a:rPr>
              <a:t>Fatal </a:t>
            </a:r>
            <a:r>
              <a:rPr lang="en-US" dirty="0">
                <a:solidFill>
                  <a:schemeClr val="tx1"/>
                </a:solidFill>
                <a:latin typeface="Vidaloka" panose="020B0604020202020204" charset="0"/>
              </a:rPr>
              <a:t>collisions</a:t>
            </a:r>
            <a:r>
              <a:rPr lang="en-US" dirty="0">
                <a:latin typeface="Vidaloka" panose="020B0604020202020204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18E711-2604-347F-A5E5-0EBC82C7336F}"/>
              </a:ext>
            </a:extLst>
          </p:cNvPr>
          <p:cNvSpPr txBox="1"/>
          <p:nvPr/>
        </p:nvSpPr>
        <p:spPr>
          <a:xfrm>
            <a:off x="5377405" y="1917271"/>
            <a:ext cx="14841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Vidaloka" panose="020B0604020202020204" charset="0"/>
              </a:rPr>
              <a:t>(0.25 x </a:t>
            </a:r>
            <a:r>
              <a:rPr lang="en-US" dirty="0">
                <a:solidFill>
                  <a:srgbClr val="FF0000"/>
                </a:solidFill>
                <a:latin typeface="Vidaloka" panose="020B0604020202020204" charset="0"/>
              </a:rPr>
              <a:t>Vulnerable Users </a:t>
            </a:r>
            <a:r>
              <a:rPr lang="en-US" dirty="0">
                <a:solidFill>
                  <a:schemeClr val="tx1"/>
                </a:solidFill>
                <a:latin typeface="Vidaloka" panose="020B0604020202020204" charset="0"/>
              </a:rPr>
              <a:t>collisions)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EAF46E-9D34-1026-BA35-5A2133DC925E}"/>
              </a:ext>
            </a:extLst>
          </p:cNvPr>
          <p:cNvSpPr txBox="1"/>
          <p:nvPr/>
        </p:nvSpPr>
        <p:spPr>
          <a:xfrm>
            <a:off x="7022615" y="1847550"/>
            <a:ext cx="15593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Vidaloka" panose="020B0604020202020204" charset="0"/>
              </a:rPr>
              <a:t>(0.25 x </a:t>
            </a:r>
            <a:r>
              <a:rPr lang="en-US" dirty="0">
                <a:latin typeface="Vidaloka" panose="020B0604020202020204" charset="0"/>
              </a:rPr>
              <a:t>Fatal &amp; severe collisions</a:t>
            </a:r>
          </a:p>
          <a:p>
            <a:r>
              <a:rPr lang="en-US" dirty="0">
                <a:solidFill>
                  <a:schemeClr val="tx1"/>
                </a:solidFill>
                <a:latin typeface="Vidaloka" panose="020B0604020202020204" charset="0"/>
              </a:rPr>
              <a:t>In </a:t>
            </a:r>
            <a:r>
              <a:rPr lang="en-US" dirty="0">
                <a:solidFill>
                  <a:srgbClr val="FF0000"/>
                </a:solidFill>
                <a:latin typeface="Vidaloka" panose="020B0604020202020204" charset="0"/>
              </a:rPr>
              <a:t>disadvantaged areas</a:t>
            </a:r>
            <a:r>
              <a:rPr lang="en-US" dirty="0">
                <a:solidFill>
                  <a:schemeClr val="tx1"/>
                </a:solidFill>
                <a:latin typeface="Vidaloka" panose="020B0604020202020204" charset="0"/>
              </a:rPr>
              <a:t>)</a:t>
            </a:r>
          </a:p>
        </p:txBody>
      </p:sp>
      <p:sp>
        <p:nvSpPr>
          <p:cNvPr id="15" name="Plus Sign 14">
            <a:extLst>
              <a:ext uri="{FF2B5EF4-FFF2-40B4-BE49-F238E27FC236}">
                <a16:creationId xmlns:a16="http://schemas.microsoft.com/office/drawing/2014/main" id="{6BD94441-C93F-D6F3-8EC7-B5D96904A66D}"/>
              </a:ext>
            </a:extLst>
          </p:cNvPr>
          <p:cNvSpPr/>
          <p:nvPr/>
        </p:nvSpPr>
        <p:spPr>
          <a:xfrm>
            <a:off x="3622035" y="2212061"/>
            <a:ext cx="225083" cy="225083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lus Sign 15">
            <a:extLst>
              <a:ext uri="{FF2B5EF4-FFF2-40B4-BE49-F238E27FC236}">
                <a16:creationId xmlns:a16="http://schemas.microsoft.com/office/drawing/2014/main" id="{8C5C936A-A7E3-356E-16F1-4769AC266908}"/>
              </a:ext>
            </a:extLst>
          </p:cNvPr>
          <p:cNvSpPr/>
          <p:nvPr/>
        </p:nvSpPr>
        <p:spPr>
          <a:xfrm>
            <a:off x="5095800" y="2208455"/>
            <a:ext cx="225083" cy="225083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lus Sign 16">
            <a:extLst>
              <a:ext uri="{FF2B5EF4-FFF2-40B4-BE49-F238E27FC236}">
                <a16:creationId xmlns:a16="http://schemas.microsoft.com/office/drawing/2014/main" id="{04FE7209-F456-7907-9BED-7B4624D786F6}"/>
              </a:ext>
            </a:extLst>
          </p:cNvPr>
          <p:cNvSpPr/>
          <p:nvPr/>
        </p:nvSpPr>
        <p:spPr>
          <a:xfrm>
            <a:off x="6797532" y="2208455"/>
            <a:ext cx="225083" cy="225083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D19A38-1124-24B5-C71B-EED763502A89}"/>
              </a:ext>
            </a:extLst>
          </p:cNvPr>
          <p:cNvSpPr txBox="1"/>
          <p:nvPr/>
        </p:nvSpPr>
        <p:spPr>
          <a:xfrm>
            <a:off x="3766597" y="3025027"/>
            <a:ext cx="3436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idaloka" panose="020B0604020202020204" charset="0"/>
              </a:rPr>
              <a:t>Segment length</a:t>
            </a:r>
          </a:p>
        </p:txBody>
      </p:sp>
      <p:sp>
        <p:nvSpPr>
          <p:cNvPr id="2" name="Equals 1">
            <a:extLst>
              <a:ext uri="{FF2B5EF4-FFF2-40B4-BE49-F238E27FC236}">
                <a16:creationId xmlns:a16="http://schemas.microsoft.com/office/drawing/2014/main" id="{948B4F36-52F4-D8A9-8D55-8F06FAB6CBFC}"/>
              </a:ext>
            </a:extLst>
          </p:cNvPr>
          <p:cNvSpPr/>
          <p:nvPr/>
        </p:nvSpPr>
        <p:spPr>
          <a:xfrm>
            <a:off x="2166424" y="2749083"/>
            <a:ext cx="281354" cy="151776"/>
          </a:xfrm>
          <a:prstGeom prst="mathEqual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455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3560-8239-43DB-7620-0F97AB47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2C4F-A806-35D4-CAFC-6C175AA5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Segments by composite score</a:t>
            </a:r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1032F073-5CB7-6812-F56E-48876A031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329" y="1093337"/>
            <a:ext cx="7291292" cy="360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143BB6F-C6F4-C4F3-D564-D5E7CCCF4AF0}"/>
              </a:ext>
            </a:extLst>
          </p:cNvPr>
          <p:cNvSpPr/>
          <p:nvPr/>
        </p:nvSpPr>
        <p:spPr>
          <a:xfrm>
            <a:off x="724486" y="4304714"/>
            <a:ext cx="8152228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579E3D-FDF3-38A6-4F01-F1FCD6128C27}"/>
              </a:ext>
            </a:extLst>
          </p:cNvPr>
          <p:cNvSpPr/>
          <p:nvPr/>
        </p:nvSpPr>
        <p:spPr>
          <a:xfrm>
            <a:off x="1167618" y="1906172"/>
            <a:ext cx="970671" cy="232117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C38B9B-064C-1D3B-BE90-EB259239EB76}"/>
              </a:ext>
            </a:extLst>
          </p:cNvPr>
          <p:cNvSpPr/>
          <p:nvPr/>
        </p:nvSpPr>
        <p:spPr>
          <a:xfrm>
            <a:off x="1167616" y="2799474"/>
            <a:ext cx="970671" cy="232117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EBF4CA-10EE-BF2D-6705-46FE369E975B}"/>
              </a:ext>
            </a:extLst>
          </p:cNvPr>
          <p:cNvSpPr/>
          <p:nvPr/>
        </p:nvSpPr>
        <p:spPr>
          <a:xfrm>
            <a:off x="926329" y="3692185"/>
            <a:ext cx="1211959" cy="232117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C64A09-D54B-08F0-48A6-0FB79DF741F3}"/>
              </a:ext>
            </a:extLst>
          </p:cNvPr>
          <p:cNvSpPr/>
          <p:nvPr/>
        </p:nvSpPr>
        <p:spPr>
          <a:xfrm>
            <a:off x="1167617" y="3996985"/>
            <a:ext cx="970671" cy="232117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89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14D2D-E204-C7FB-005F-440FE584E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2D5727A-5045-8FE3-2A0E-8977F6CD7D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439816"/>
              </p:ext>
            </p:extLst>
          </p:nvPr>
        </p:nvGraphicFramePr>
        <p:xfrm>
          <a:off x="692394" y="2096270"/>
          <a:ext cx="7759212" cy="950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2263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F5907-743A-DC17-80BA-DFA35AFC2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D13E859-2C24-4E5C-DF7D-53593C60F118}"/>
              </a:ext>
            </a:extLst>
          </p:cNvPr>
          <p:cNvSpPr txBox="1"/>
          <p:nvPr/>
        </p:nvSpPr>
        <p:spPr>
          <a:xfrm>
            <a:off x="497644" y="1448365"/>
            <a:ext cx="847050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Vidaloka" panose="020B0604020202020204" charset="0"/>
              </a:rPr>
              <a:t>Design for </a:t>
            </a:r>
            <a:r>
              <a:rPr lang="en-US" sz="1800" dirty="0">
                <a:solidFill>
                  <a:srgbClr val="FF0000"/>
                </a:solidFill>
                <a:latin typeface="Vidaloka" panose="020B0604020202020204" charset="0"/>
              </a:rPr>
              <a:t>human error: </a:t>
            </a:r>
            <a:r>
              <a:rPr lang="en-US" sz="1800" dirty="0">
                <a:latin typeface="Vidaloka" panose="020B0604020202020204" charset="0"/>
              </a:rPr>
              <a:t>Safe System principle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Vidalok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Vidaloka" panose="020B0604020202020204" charset="0"/>
              </a:rPr>
              <a:t>Focus on high-injury corridors </a:t>
            </a:r>
            <a:r>
              <a:rPr lang="en-US" sz="1800" dirty="0">
                <a:solidFill>
                  <a:srgbClr val="FF0000"/>
                </a:solidFill>
                <a:latin typeface="Vidaloka" panose="020B0604020202020204" charset="0"/>
              </a:rPr>
              <a:t>(HIN 50–65% of KSI)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Vidalok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latin typeface="Vidaloka" panose="020B0604020202020204" charset="0"/>
              </a:rPr>
              <a:t>Proven fixes</a:t>
            </a:r>
            <a:r>
              <a:rPr lang="en-US" sz="1800" dirty="0">
                <a:latin typeface="Vidaloka" panose="020B0604020202020204" charset="0"/>
              </a:rPr>
              <a:t>: (road diets, daylighting)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Vidalok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latin typeface="Vidaloka" panose="020B0604020202020204" charset="0"/>
              </a:rPr>
              <a:t>Manage speeds</a:t>
            </a:r>
            <a:r>
              <a:rPr lang="en-US" sz="1800" dirty="0">
                <a:latin typeface="Vidaloka" panose="020B0604020202020204" charset="0"/>
              </a:rPr>
              <a:t>: Automated speed enforcement + self-enforcing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Vidalok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latin typeface="Vidaloka" panose="020B0604020202020204" charset="0"/>
              </a:rPr>
              <a:t>Protect pedestrians &amp; cyclists</a:t>
            </a:r>
            <a:r>
              <a:rPr lang="en-US" sz="1800" dirty="0">
                <a:solidFill>
                  <a:schemeClr val="tx1"/>
                </a:solidFill>
                <a:latin typeface="Vidaloka" panose="020B0604020202020204" charset="0"/>
              </a:rPr>
              <a:t>: </a:t>
            </a:r>
            <a:r>
              <a:rPr lang="en-US" sz="1800" dirty="0">
                <a:latin typeface="Vidaloka" panose="020B0604020202020204" charset="0"/>
              </a:rPr>
              <a:t>LPIs, safe crossings near schools</a:t>
            </a: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18489CF1-AD4D-2C0E-FC10-B34E7665A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/>
          <a:lstStyle/>
          <a:p>
            <a:r>
              <a:rPr lang="en-US" sz="2500" dirty="0">
                <a:solidFill>
                  <a:schemeClr val="accent6"/>
                </a:solidFill>
              </a:rPr>
              <a:t>What to do?</a:t>
            </a:r>
          </a:p>
        </p:txBody>
      </p:sp>
    </p:spTree>
    <p:extLst>
      <p:ext uri="{BB962C8B-B14F-4D97-AF65-F5344CB8AC3E}">
        <p14:creationId xmlns:p14="http://schemas.microsoft.com/office/powerpoint/2010/main" val="2692052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CBE9B-A33C-7AED-859D-2881F667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DE01329-0A3A-15CA-BE6B-6569D523E84A}"/>
              </a:ext>
            </a:extLst>
          </p:cNvPr>
          <p:cNvSpPr txBox="1"/>
          <p:nvPr/>
        </p:nvSpPr>
        <p:spPr>
          <a:xfrm>
            <a:off x="575872" y="1125200"/>
            <a:ext cx="85681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latin typeface="Vidaloka" panose="020B0604020202020204" charset="0"/>
              </a:rPr>
              <a:t>Ensures fairness </a:t>
            </a:r>
            <a:r>
              <a:rPr lang="en-US" sz="1800" dirty="0">
                <a:latin typeface="Vidaloka" panose="020B0604020202020204" charset="0"/>
              </a:rPr>
              <a:t>– not just big arterials, also smaller risky roads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Vidalok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latin typeface="Vidaloka" panose="020B0604020202020204" charset="0"/>
              </a:rPr>
              <a:t>Re-score</a:t>
            </a:r>
            <a:r>
              <a:rPr lang="en-US" sz="1800" dirty="0">
                <a:latin typeface="Vidaloka" panose="020B0604020202020204" charset="0"/>
              </a:rPr>
              <a:t> every 2–3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Vidalok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Vidaloka" panose="020B0604020202020204" charset="0"/>
              </a:rPr>
              <a:t>Phased delivery: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Vidaloka" panose="020B0604020202020204" charset="0"/>
            </a:endParaRPr>
          </a:p>
          <a:p>
            <a:pPr lvl="1"/>
            <a:r>
              <a:rPr lang="en-US" sz="1800" dirty="0">
                <a:solidFill>
                  <a:srgbClr val="FF0000"/>
                </a:solidFill>
                <a:latin typeface="Vidaloka" panose="020B0604020202020204" charset="0"/>
              </a:rPr>
              <a:t>	Year 1 </a:t>
            </a:r>
            <a:r>
              <a:rPr lang="en-US" sz="1800" dirty="0">
                <a:latin typeface="Vidaloka" panose="020B0604020202020204" charset="0"/>
              </a:rPr>
              <a:t>→ Quick wins (LPIs, daylighting, pilot road diets)</a:t>
            </a:r>
          </a:p>
          <a:p>
            <a:endParaRPr lang="en-US" sz="1800" dirty="0">
              <a:latin typeface="Vidaloka" panose="020B0604020202020204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Vidaloka" panose="020B0604020202020204" charset="0"/>
              </a:rPr>
              <a:t>	Years 1–3 </a:t>
            </a:r>
            <a:r>
              <a:rPr lang="en-US" sz="1800" dirty="0">
                <a:latin typeface="Vidaloka" panose="020B0604020202020204" charset="0"/>
              </a:rPr>
              <a:t>→ Corridor redesigns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Vidaloka" panose="020B0604020202020204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Vidaloka" panose="020B0604020202020204" charset="0"/>
              </a:rPr>
              <a:t>	Years 3–5 </a:t>
            </a:r>
            <a:r>
              <a:rPr lang="en-US" sz="1800" dirty="0">
                <a:latin typeface="Vidaloka" panose="020B0604020202020204" charset="0"/>
              </a:rPr>
              <a:t>→ Major reconstructions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Vidalok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0000"/>
                </a:solidFill>
                <a:latin typeface="Vidaloka" panose="020B0604020202020204" charset="0"/>
              </a:rPr>
              <a:t>Track progress</a:t>
            </a:r>
            <a:r>
              <a:rPr lang="en-US" sz="1800" dirty="0">
                <a:latin typeface="Vidaloka" panose="020B0604020202020204" charset="0"/>
              </a:rPr>
              <a:t>: KSI, HIN share, VRU, equity, cost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AB3BB7DE-7621-05B4-8861-10D416F3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/>
          <a:lstStyle/>
          <a:p>
            <a:r>
              <a:rPr lang="en-US" sz="2500" dirty="0">
                <a:solidFill>
                  <a:schemeClr val="accent6"/>
                </a:solidFill>
              </a:rPr>
              <a:t>Plan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326175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2FDE96-EAF8-552D-6055-C250D8C89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FF38D-7759-984D-1E6A-17E4FE6D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5368" y="1210990"/>
            <a:ext cx="4813264" cy="2721520"/>
          </a:xfrm>
        </p:spPr>
        <p:txBody>
          <a:bodyPr/>
          <a:lstStyle/>
          <a:p>
            <a:pPr algn="ctr"/>
            <a:r>
              <a:rPr lang="en-US" sz="8800" b="1" dirty="0">
                <a:solidFill>
                  <a:schemeClr val="bg1"/>
                </a:solidFill>
              </a:rPr>
              <a:t>Thank</a:t>
            </a:r>
            <a:br>
              <a:rPr lang="en-US" sz="8800" b="1" dirty="0">
                <a:solidFill>
                  <a:schemeClr val="bg1"/>
                </a:solidFill>
              </a:rPr>
            </a:br>
            <a:r>
              <a:rPr lang="en-US" sz="8800" b="1" dirty="0">
                <a:solidFill>
                  <a:schemeClr val="bg1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982092356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3436</TotalTime>
  <Words>616</Words>
  <Application>Microsoft Office PowerPoint</Application>
  <PresentationFormat>On-screen Show (16:9)</PresentationFormat>
  <Paragraphs>102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Vidaloka</vt:lpstr>
      <vt:lpstr>Montserrat</vt:lpstr>
      <vt:lpstr>Arial</vt:lpstr>
      <vt:lpstr>Minimalist Business Slides XL by Slidesgo</vt:lpstr>
      <vt:lpstr>PowerPoint Presentation</vt:lpstr>
      <vt:lpstr>Agenda</vt:lpstr>
      <vt:lpstr>What is Vision Zero?</vt:lpstr>
      <vt:lpstr>Proplem Statement</vt:lpstr>
      <vt:lpstr>Objectives</vt:lpstr>
      <vt:lpstr>KSI crashes remain steady while totals fluctuate</vt:lpstr>
      <vt:lpstr>KABCO</vt:lpstr>
      <vt:lpstr>What Makes Some Crashes More Deadly Than Others?</vt:lpstr>
      <vt:lpstr>Pedestrian, bicyclist, and DUI crashes are far more deadly</vt:lpstr>
      <vt:lpstr>Average cost per crash shows the true impact of each severe crash on society.</vt:lpstr>
      <vt:lpstr>Average pedestrian crash costs society $0.75M — double bicyclist crashes</vt:lpstr>
      <vt:lpstr>Crashes involving DUI cost more than twice as much as other crashes</vt:lpstr>
      <vt:lpstr>PowerPoint Presentation</vt:lpstr>
      <vt:lpstr>What is a High Injury Network?</vt:lpstr>
      <vt:lpstr>PowerPoint Presentation</vt:lpstr>
      <vt:lpstr>9.9% of roads account for (50% KSI) RED   14.6% of roads account for (65% KSI) RED + BLUE  </vt:lpstr>
      <vt:lpstr>Top 10 Road Segments by KSI Crashes (2020–2024)</vt:lpstr>
      <vt:lpstr>PowerPoint Presentation</vt:lpstr>
      <vt:lpstr>Top 10 Segments by Exposure-Adjusted KSI Rate</vt:lpstr>
      <vt:lpstr>PowerPoint Presentation</vt:lpstr>
      <vt:lpstr>PowerPoint Presentation</vt:lpstr>
      <vt:lpstr>Prioritization Score Formula</vt:lpstr>
      <vt:lpstr>Top 10 Segments by composite score</vt:lpstr>
      <vt:lpstr>PowerPoint Presentation</vt:lpstr>
      <vt:lpstr>What to do?</vt:lpstr>
      <vt:lpstr>Plan &amp; 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Abdullah Tarek</dc:creator>
  <cp:lastModifiedBy>Abdullah Tarek</cp:lastModifiedBy>
  <cp:revision>15</cp:revision>
  <dcterms:modified xsi:type="dcterms:W3CDTF">2025-09-03T08:18:05Z</dcterms:modified>
</cp:coreProperties>
</file>